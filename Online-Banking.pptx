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7" d="100"/>
          <a:sy n="77" d="100"/>
        </p:scale>
        <p:origin x="24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3" Type="http://schemas.openxmlformats.org/officeDocument/2006/relationships/tableStyles" Target="tableStyles.xml"/><Relationship Id="rId12" Type="http://schemas.openxmlformats.org/officeDocument/2006/relationships/viewProps" Target="viewProps.xml"/><Relationship Id="rId11" Type="http://schemas.openxmlformats.org/officeDocument/2006/relationships/presProps" Target="presProps.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4" name="Text 2"/>
          <p:cNvSpPr/>
          <p:nvPr/>
        </p:nvSpPr>
        <p:spPr>
          <a:xfrm>
            <a:off x="640080" y="640080"/>
            <a:ext cx="7315200" cy="640080"/>
          </a:xfrm>
          <a:prstGeom prst="rect">
            <a:avLst/>
          </a:prstGeom>
          <a:noFill/>
        </p:spPr>
        <p:txBody>
          <a:bodyPr wrap="square" rtlCol="0" anchor="ctr"/>
          <a:lstStyle/>
          <a:p>
            <a:pPr marL="0" indent="0">
              <a:buNone/>
            </a:pPr>
            <a:r>
              <a:rPr lang="en-US" sz="1400" b="1" kern="0" spc="100" dirty="0">
                <a:solidFill>
                  <a:srgbClr val="CADCFC"/>
                </a:solidFill>
                <a:latin typeface="Calibri" panose="020F0502020204030204" pitchFamily="34" charset="0"/>
                <a:ea typeface="Calibri" panose="020F0502020204030204" pitchFamily="34" charset="-122"/>
                <a:cs typeface="Calibri" panose="020F0502020204030204" pitchFamily="34" charset="-120"/>
              </a:rPr>
              <a:t>DATABASE SYSTEMS ENGINEERING &amp;</a:t>
            </a:r>
            <a:endParaRPr lang="en-US" sz="1400" dirty="0"/>
          </a:p>
          <a:p>
            <a:pPr marL="0" indent="0">
              <a:buNone/>
            </a:pPr>
            <a:r>
              <a:rPr lang="en-US" sz="1400" b="1" kern="0" spc="100" dirty="0">
                <a:solidFill>
                  <a:srgbClr val="CADCFC"/>
                </a:solidFill>
                <a:latin typeface="Calibri" panose="020F0502020204030204" pitchFamily="34" charset="0"/>
                <a:ea typeface="Calibri" panose="020F0502020204030204" pitchFamily="34" charset="-122"/>
                <a:cs typeface="Calibri" panose="020F0502020204030204" pitchFamily="34" charset="-120"/>
              </a:rPr>
              <a:t>DISTRIBUTED BACKEND DEVELOPMENT</a:t>
            </a:r>
            <a:endParaRPr lang="en-US" sz="1400" dirty="0"/>
          </a:p>
        </p:txBody>
      </p:sp>
      <p:sp>
        <p:nvSpPr>
          <p:cNvPr id="5" name="Text 3"/>
          <p:cNvSpPr/>
          <p:nvPr/>
        </p:nvSpPr>
        <p:spPr>
          <a:xfrm>
            <a:off x="640080" y="2103120"/>
            <a:ext cx="8686800" cy="1828800"/>
          </a:xfrm>
          <a:prstGeom prst="rect">
            <a:avLst/>
          </a:prstGeom>
          <a:noFill/>
        </p:spPr>
        <p:txBody>
          <a:bodyPr wrap="square" rtlCol="0" anchor="ctr"/>
          <a:lstStyle/>
          <a:p>
            <a:pPr marL="0" indent="0">
              <a:lnSpc>
                <a:spcPct val="105000"/>
              </a:lnSpc>
              <a:buNone/>
            </a:pPr>
            <a:r>
              <a:rPr lang="en-US" sz="4200" b="1" dirty="0">
                <a:solidFill>
                  <a:srgbClr val="FFFFFF"/>
                </a:solidFill>
                <a:latin typeface="Cambria" panose="02040503050406030204" pitchFamily="34" charset="0"/>
                <a:ea typeface="Cambria" panose="02040503050406030204" pitchFamily="34" charset="-122"/>
                <a:cs typeface="Cambria" panose="02040503050406030204" pitchFamily="34" charset="-120"/>
              </a:rPr>
              <a:t>Online Banking System</a:t>
            </a:r>
            <a:endParaRPr lang="en-US" sz="4200" dirty="0"/>
          </a:p>
          <a:p>
            <a:pPr marL="0" indent="0">
              <a:lnSpc>
                <a:spcPct val="105000"/>
              </a:lnSpc>
              <a:buNone/>
            </a:pPr>
            <a:r>
              <a:rPr lang="en-US" sz="4200" b="1" dirty="0">
                <a:solidFill>
                  <a:srgbClr val="FFFFFF"/>
                </a:solidFill>
                <a:latin typeface="Cambria" panose="02040503050406030204" pitchFamily="34" charset="0"/>
                <a:ea typeface="Cambria" panose="02040503050406030204" pitchFamily="34" charset="-122"/>
                <a:cs typeface="Cambria" panose="02040503050406030204" pitchFamily="34" charset="-120"/>
              </a:rPr>
              <a:t>Simulation</a:t>
            </a:r>
            <a:endParaRPr lang="en-US" sz="4200" dirty="0"/>
          </a:p>
        </p:txBody>
      </p:sp>
      <p:sp>
        <p:nvSpPr>
          <p:cNvPr id="7" name="Shape 5"/>
          <p:cNvSpPr/>
          <p:nvPr/>
        </p:nvSpPr>
        <p:spPr>
          <a:xfrm>
            <a:off x="640080" y="4572000"/>
            <a:ext cx="2926080" cy="0"/>
          </a:xfrm>
          <a:prstGeom prst="line">
            <a:avLst/>
          </a:prstGeom>
          <a:noFill/>
          <a:ln w="25400">
            <a:solidFill>
              <a:srgbClr val="D4AF37"/>
            </a:solidFill>
            <a:prstDash val="solid"/>
          </a:ln>
        </p:spPr>
      </p:sp>
      <p:sp>
        <p:nvSpPr>
          <p:cNvPr id="8" name="Text 6"/>
          <p:cNvSpPr/>
          <p:nvPr/>
        </p:nvSpPr>
        <p:spPr>
          <a:xfrm>
            <a:off x="640080" y="4800600"/>
            <a:ext cx="5486400" cy="1097280"/>
          </a:xfrm>
          <a:prstGeom prst="rect">
            <a:avLst/>
          </a:prstGeom>
          <a:noFill/>
        </p:spPr>
        <p:txBody>
          <a:bodyPr wrap="square" rtlCol="0" anchor="ctr"/>
          <a:lstStyle/>
          <a:p>
            <a:pPr marL="0" indent="0">
              <a:buNone/>
            </a:pPr>
            <a:r>
              <a:rPr lang="en-US" sz="1200" b="1" dirty="0">
                <a:solidFill>
                  <a:srgbClr val="D4AF37"/>
                </a:solidFill>
                <a:latin typeface="Calibri" panose="020F0502020204030204" pitchFamily="34" charset="0"/>
                <a:ea typeface="Calibri" panose="020F0502020204030204" pitchFamily="34" charset="-122"/>
                <a:cs typeface="Calibri" panose="020F0502020204030204" pitchFamily="34" charset="-120"/>
              </a:rPr>
              <a:t>Team
</a:t>
            </a:r>
            <a:endParaRPr lang="en-US" sz="1200" dirty="0"/>
          </a:p>
          <a:p>
            <a:pPr marL="0" indent="0">
              <a:buNone/>
            </a:pPr>
            <a:r>
              <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rPr>
              <a:t>2520030006  —  Bhanu Jakka
</a:t>
            </a:r>
            <a:endParaRPr lang="en-US" sz="1200" dirty="0"/>
          </a:p>
          <a:p>
            <a:pPr marL="0" indent="0">
              <a:buNone/>
            </a:pPr>
            <a:r>
              <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rPr>
              <a:t>2520030043  —  Anand Akshita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640080"/>
          </a:xfrm>
          <a:prstGeom prst="rect">
            <a:avLst/>
          </a:prstGeom>
          <a:noFill/>
        </p:spPr>
        <p:txBody>
          <a:bodyPr wrap="square" rtlCol="0" anchor="ctr"/>
          <a:lstStyle/>
          <a:p>
            <a:pPr marL="0" indent="0">
              <a:buNone/>
            </a:pPr>
            <a:r>
              <a:rPr lang="en-US" sz="3000" b="1" dirty="0">
                <a:solidFill>
                  <a:srgbClr val="1E2761"/>
                </a:solidFill>
                <a:latin typeface="Cambria" panose="02040503050406030204" pitchFamily="34" charset="0"/>
                <a:ea typeface="Cambria" panose="02040503050406030204" pitchFamily="34" charset="-122"/>
                <a:cs typeface="Cambria" panose="02040503050406030204" pitchFamily="34" charset="-120"/>
              </a:rPr>
              <a:t>Abstract</a:t>
            </a:r>
            <a:endParaRPr lang="en-US" sz="3000" dirty="0"/>
          </a:p>
        </p:txBody>
      </p:sp>
      <p:sp>
        <p:nvSpPr>
          <p:cNvPr id="3" name="Shape 1"/>
          <p:cNvSpPr/>
          <p:nvPr/>
        </p:nvSpPr>
        <p:spPr>
          <a:xfrm>
            <a:off x="594360" y="1051560"/>
            <a:ext cx="1463040" cy="0"/>
          </a:xfrm>
          <a:prstGeom prst="line">
            <a:avLst/>
          </a:prstGeom>
          <a:noFill/>
          <a:ln w="38100">
            <a:solidFill>
              <a:srgbClr val="D4AF37"/>
            </a:solidFill>
            <a:prstDash val="solid"/>
          </a:ln>
        </p:spPr>
      </p:sp>
      <p:sp>
        <p:nvSpPr>
          <p:cNvPr id="4" name="Shape 2"/>
          <p:cNvSpPr/>
          <p:nvPr/>
        </p:nvSpPr>
        <p:spPr>
          <a:xfrm>
            <a:off x="548640" y="1371600"/>
            <a:ext cx="11064240" cy="4480560"/>
          </a:xfrm>
          <a:prstGeom prst="roundRect">
            <a:avLst>
              <a:gd name="adj" fmla="val 1633"/>
            </a:avLst>
          </a:prstGeom>
          <a:solidFill>
            <a:srgbClr val="F5F7FB"/>
          </a:solidFill>
        </p:spPr>
      </p:sp>
      <p:sp>
        <p:nvSpPr>
          <p:cNvPr id="5" name="Text 3"/>
          <p:cNvSpPr/>
          <p:nvPr/>
        </p:nvSpPr>
        <p:spPr>
          <a:xfrm>
            <a:off x="868680" y="1600200"/>
            <a:ext cx="10424160" cy="4023360"/>
          </a:xfrm>
          <a:prstGeom prst="rect">
            <a:avLst/>
          </a:prstGeom>
          <a:noFill/>
        </p:spPr>
        <p:txBody>
          <a:bodyPr wrap="square" rtlCol="0" anchor="t"/>
          <a:lstStyle/>
          <a:p>
            <a:pPr marL="0" indent="0" algn="just">
              <a:lnSpc>
                <a:spcPct val="125000"/>
              </a:lnSpc>
              <a:buNone/>
            </a:pPr>
            <a:r>
              <a:rPr lang="en-US" sz="1500" dirty="0">
                <a:solidFill>
                  <a:srgbClr val="2A2E38"/>
                </a:solidFill>
                <a:latin typeface="Calibri" panose="020F0502020204030204" pitchFamily="34" charset="0"/>
                <a:ea typeface="Calibri" panose="020F0502020204030204" pitchFamily="34" charset="-122"/>
                <a:cs typeface="Calibri" panose="020F0502020204030204" pitchFamily="34" charset="-120"/>
              </a:rPr>
              <a:t>The Online Banking System Simulation is a full-stack project that models core banking operations such as account management, deposits, withdrawals, fund transfers, and transaction history retrieval. A React-based frontend provides Login, Dashboard, Transfer, and Transaction History screens that consume a layered backend service — separating request handling, validation, business logic, data access, and persistence — so a single request can be traced end-to-end. The relational schema is designed using entity-relationship modelling and normalized up to BCNF to remove redundancy and update anomalies. SQL is used extensively for schema definition, data manipulation, joins, aggregations, subqueries, CTEs, and window functions. The system enforces ACID properties and safeguards against concurrency anomalies to keep balances consistent under concurrent access, optimizes performance using indexing and EXPLAIN plans, and incorporates distributed database concepts such as replication and sharding to reason about scalability.</a:t>
            </a:r>
            <a:endParaRPr lang="en-US" sz="1500" dirty="0"/>
          </a:p>
        </p:txBody>
      </p:sp>
      <p:sp>
        <p:nvSpPr>
          <p:cNvPr id="7" name="Text 5"/>
          <p:cNvSpPr/>
          <p:nvPr/>
        </p:nvSpPr>
        <p:spPr>
          <a:xfrm>
            <a:off x="11521440" y="6537960"/>
            <a:ext cx="365760" cy="274320"/>
          </a:xfrm>
          <a:prstGeom prst="rect">
            <a:avLst/>
          </a:prstGeom>
          <a:noFill/>
        </p:spPr>
        <p:txBody>
          <a:bodyPr wrap="square" rtlCol="0" anchor="ctr"/>
          <a:lstStyle/>
          <a:p>
            <a:pPr marL="0" indent="0" algn="r">
              <a:buNone/>
            </a:pPr>
            <a:r>
              <a:rPr lang="en-US" sz="900" dirty="0">
                <a:solidFill>
                  <a:srgbClr val="5B6572"/>
                </a:solidFill>
                <a:latin typeface="Calibri" panose="020F0502020204030204" pitchFamily="34" charset="0"/>
                <a:ea typeface="Calibri" panose="020F0502020204030204" pitchFamily="34" charset="-122"/>
                <a:cs typeface="Calibri" panose="020F0502020204030204"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640080"/>
          </a:xfrm>
          <a:prstGeom prst="rect">
            <a:avLst/>
          </a:prstGeom>
          <a:noFill/>
        </p:spPr>
        <p:txBody>
          <a:bodyPr wrap="square" rtlCol="0" anchor="ctr"/>
          <a:lstStyle/>
          <a:p>
            <a:pPr marL="0" indent="0">
              <a:buNone/>
            </a:pPr>
            <a:r>
              <a:rPr lang="en-US" sz="3000" b="1" dirty="0">
                <a:solidFill>
                  <a:srgbClr val="1E2761"/>
                </a:solidFill>
                <a:latin typeface="Cambria" panose="02040503050406030204" pitchFamily="34" charset="0"/>
                <a:ea typeface="Cambria" panose="02040503050406030204" pitchFamily="34" charset="-122"/>
                <a:cs typeface="Cambria" panose="02040503050406030204" pitchFamily="34" charset="-120"/>
              </a:rPr>
              <a:t>Problem Statement</a:t>
            </a:r>
            <a:endParaRPr lang="en-US" sz="3000" dirty="0"/>
          </a:p>
        </p:txBody>
      </p:sp>
      <p:sp>
        <p:nvSpPr>
          <p:cNvPr id="3" name="Text 1"/>
          <p:cNvSpPr/>
          <p:nvPr/>
        </p:nvSpPr>
        <p:spPr>
          <a:xfrm>
            <a:off x="548640" y="960120"/>
            <a:ext cx="10058400" cy="365760"/>
          </a:xfrm>
          <a:prstGeom prst="rect">
            <a:avLst/>
          </a:prstGeom>
          <a:noFill/>
        </p:spPr>
        <p:txBody>
          <a:bodyPr wrap="square" rtlCol="0" anchor="ctr"/>
          <a:lstStyle/>
          <a:p>
            <a:pPr marL="0" indent="0">
              <a:buNone/>
            </a:pPr>
            <a:r>
              <a:rPr lang="en-US" sz="1350" i="1" dirty="0">
                <a:solidFill>
                  <a:srgbClr val="5B6572"/>
                </a:solidFill>
                <a:latin typeface="Calibri" panose="020F0502020204030204" pitchFamily="34" charset="0"/>
                <a:ea typeface="Calibri" panose="020F0502020204030204" pitchFamily="34" charset="-122"/>
                <a:cs typeface="Calibri" panose="020F0502020204030204" pitchFamily="34" charset="-120"/>
              </a:rPr>
              <a:t>Why simple banking backends break under real-world conditions</a:t>
            </a:r>
            <a:endParaRPr lang="en-US" sz="1350" dirty="0"/>
          </a:p>
        </p:txBody>
      </p:sp>
      <p:sp>
        <p:nvSpPr>
          <p:cNvPr id="4" name="Shape 2"/>
          <p:cNvSpPr/>
          <p:nvPr/>
        </p:nvSpPr>
        <p:spPr>
          <a:xfrm>
            <a:off x="548640" y="1554480"/>
            <a:ext cx="5349240" cy="1920240"/>
          </a:xfrm>
          <a:prstGeom prst="roundRect">
            <a:avLst>
              <a:gd name="adj" fmla="val 3810"/>
            </a:avLst>
          </a:prstGeom>
          <a:solidFill>
            <a:srgbClr val="FFFFFF"/>
          </a:solidFill>
          <a:ln w="12700">
            <a:solidFill>
              <a:srgbClr val="CADCFC"/>
            </a:solidFill>
            <a:prstDash val="solid"/>
          </a:ln>
        </p:spPr>
      </p:sp>
      <p:sp>
        <p:nvSpPr>
          <p:cNvPr id="5" name="Shape 3"/>
          <p:cNvSpPr/>
          <p:nvPr/>
        </p:nvSpPr>
        <p:spPr>
          <a:xfrm>
            <a:off x="731520" y="1737360"/>
            <a:ext cx="502920" cy="502920"/>
          </a:xfrm>
          <a:prstGeom prst="roundRect">
            <a:avLst>
              <a:gd name="adj" fmla="val 50909"/>
            </a:avLst>
          </a:prstGeom>
          <a:solidFill>
            <a:srgbClr val="C0453A"/>
          </a:solidFill>
        </p:spPr>
      </p:sp>
      <p:sp>
        <p:nvSpPr>
          <p:cNvPr id="6" name="Text 4"/>
          <p:cNvSpPr/>
          <p:nvPr/>
        </p:nvSpPr>
        <p:spPr>
          <a:xfrm>
            <a:off x="731520" y="1737360"/>
            <a:ext cx="502920" cy="502920"/>
          </a:xfrm>
          <a:prstGeom prst="rect">
            <a:avLst/>
          </a:prstGeom>
          <a:noFill/>
        </p:spPr>
        <p:txBody>
          <a:bodyPr wrap="square"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600" dirty="0"/>
          </a:p>
        </p:txBody>
      </p:sp>
      <p:sp>
        <p:nvSpPr>
          <p:cNvPr id="7" name="Text 5"/>
          <p:cNvSpPr/>
          <p:nvPr/>
        </p:nvSpPr>
        <p:spPr>
          <a:xfrm>
            <a:off x="1371600" y="1719072"/>
            <a:ext cx="4343400" cy="365760"/>
          </a:xfrm>
          <a:prstGeom prst="rect">
            <a:avLst/>
          </a:prstGeom>
          <a:noFill/>
        </p:spPr>
        <p:txBody>
          <a:bodyPr wrap="square" rtlCol="0" anchor="ctr"/>
          <a:lstStyle/>
          <a:p>
            <a:pPr marL="0" indent="0">
              <a:buNone/>
            </a:pPr>
            <a:r>
              <a:rPr lang="en-US" sz="1550" b="1" dirty="0">
                <a:solidFill>
                  <a:srgbClr val="1E2761"/>
                </a:solidFill>
                <a:latin typeface="Calibri" panose="020F0502020204030204" pitchFamily="34" charset="0"/>
                <a:ea typeface="Calibri" panose="020F0502020204030204" pitchFamily="34" charset="-122"/>
                <a:cs typeface="Calibri" panose="020F0502020204030204" pitchFamily="34" charset="-120"/>
              </a:rPr>
              <a:t>Data Inconsistency</a:t>
            </a:r>
            <a:endParaRPr lang="en-US" sz="1550" dirty="0"/>
          </a:p>
        </p:txBody>
      </p:sp>
      <p:sp>
        <p:nvSpPr>
          <p:cNvPr id="8" name="Text 6"/>
          <p:cNvSpPr/>
          <p:nvPr/>
        </p:nvSpPr>
        <p:spPr>
          <a:xfrm>
            <a:off x="1371600" y="2121408"/>
            <a:ext cx="4343400" cy="1234440"/>
          </a:xfrm>
          <a:prstGeom prst="rect">
            <a:avLst/>
          </a:prstGeom>
          <a:noFill/>
        </p:spPr>
        <p:txBody>
          <a:bodyPr wrap="square" rtlCol="0" anchor="ctr"/>
          <a:lstStyle/>
          <a:p>
            <a:pPr marL="0" indent="0">
              <a:buNone/>
            </a:pPr>
            <a:r>
              <a:rPr lang="en-US" sz="1150" dirty="0">
                <a:solidFill>
                  <a:srgbClr val="3A3F4B"/>
                </a:solidFill>
                <a:latin typeface="Calibri" panose="020F0502020204030204" pitchFamily="34" charset="0"/>
                <a:ea typeface="Calibri" panose="020F0502020204030204" pitchFamily="34" charset="-122"/>
                <a:cs typeface="Calibri" panose="020F0502020204030204" pitchFamily="34" charset="-120"/>
              </a:rPr>
              <a:t>When customer and account data is duplicated across the system, records fall out of sync — a balance shown on screen can silently be wrong.</a:t>
            </a:r>
            <a:endParaRPr lang="en-US" sz="1150" dirty="0"/>
          </a:p>
        </p:txBody>
      </p:sp>
      <p:sp>
        <p:nvSpPr>
          <p:cNvPr id="9" name="Shape 7"/>
          <p:cNvSpPr/>
          <p:nvPr/>
        </p:nvSpPr>
        <p:spPr>
          <a:xfrm>
            <a:off x="6263640" y="1554480"/>
            <a:ext cx="5349240" cy="1920240"/>
          </a:xfrm>
          <a:prstGeom prst="roundRect">
            <a:avLst>
              <a:gd name="adj" fmla="val 3810"/>
            </a:avLst>
          </a:prstGeom>
          <a:solidFill>
            <a:srgbClr val="FFFFFF"/>
          </a:solidFill>
          <a:ln w="12700">
            <a:solidFill>
              <a:srgbClr val="CADCFC"/>
            </a:solidFill>
            <a:prstDash val="solid"/>
          </a:ln>
        </p:spPr>
      </p:sp>
      <p:sp>
        <p:nvSpPr>
          <p:cNvPr id="10" name="Shape 8"/>
          <p:cNvSpPr/>
          <p:nvPr/>
        </p:nvSpPr>
        <p:spPr>
          <a:xfrm>
            <a:off x="6446520" y="1737360"/>
            <a:ext cx="502920" cy="502920"/>
          </a:xfrm>
          <a:prstGeom prst="roundRect">
            <a:avLst>
              <a:gd name="adj" fmla="val 50909"/>
            </a:avLst>
          </a:prstGeom>
          <a:solidFill>
            <a:srgbClr val="C0453A"/>
          </a:solidFill>
        </p:spPr>
      </p:sp>
      <p:sp>
        <p:nvSpPr>
          <p:cNvPr id="11" name="Text 9"/>
          <p:cNvSpPr/>
          <p:nvPr/>
        </p:nvSpPr>
        <p:spPr>
          <a:xfrm>
            <a:off x="6446520" y="1737360"/>
            <a:ext cx="502920" cy="502920"/>
          </a:xfrm>
          <a:prstGeom prst="rect">
            <a:avLst/>
          </a:prstGeom>
          <a:noFill/>
        </p:spPr>
        <p:txBody>
          <a:bodyPr wrap="square"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600" dirty="0"/>
          </a:p>
        </p:txBody>
      </p:sp>
      <p:sp>
        <p:nvSpPr>
          <p:cNvPr id="12" name="Text 10"/>
          <p:cNvSpPr/>
          <p:nvPr/>
        </p:nvSpPr>
        <p:spPr>
          <a:xfrm>
            <a:off x="7086600" y="1719072"/>
            <a:ext cx="4343400" cy="365760"/>
          </a:xfrm>
          <a:prstGeom prst="rect">
            <a:avLst/>
          </a:prstGeom>
          <a:noFill/>
        </p:spPr>
        <p:txBody>
          <a:bodyPr wrap="square" rtlCol="0" anchor="ctr"/>
          <a:lstStyle/>
          <a:p>
            <a:pPr marL="0" indent="0">
              <a:buNone/>
            </a:pPr>
            <a:r>
              <a:rPr lang="en-US" sz="1550" b="1" dirty="0">
                <a:solidFill>
                  <a:srgbClr val="1E2761"/>
                </a:solidFill>
                <a:latin typeface="Calibri" panose="020F0502020204030204" pitchFamily="34" charset="0"/>
                <a:ea typeface="Calibri" panose="020F0502020204030204" pitchFamily="34" charset="-122"/>
                <a:cs typeface="Calibri" panose="020F0502020204030204" pitchFamily="34" charset="-120"/>
              </a:rPr>
              <a:t>Concurrency Failures</a:t>
            </a:r>
            <a:endParaRPr lang="en-US" sz="1550" dirty="0"/>
          </a:p>
        </p:txBody>
      </p:sp>
      <p:sp>
        <p:nvSpPr>
          <p:cNvPr id="13" name="Text 11"/>
          <p:cNvSpPr/>
          <p:nvPr/>
        </p:nvSpPr>
        <p:spPr>
          <a:xfrm>
            <a:off x="7086600" y="2121408"/>
            <a:ext cx="4343400" cy="1234440"/>
          </a:xfrm>
          <a:prstGeom prst="rect">
            <a:avLst/>
          </a:prstGeom>
          <a:noFill/>
        </p:spPr>
        <p:txBody>
          <a:bodyPr wrap="square" rtlCol="0" anchor="ctr"/>
          <a:lstStyle/>
          <a:p>
            <a:pPr marL="0" indent="0">
              <a:buNone/>
            </a:pPr>
            <a:r>
              <a:rPr lang="en-US" sz="1150" dirty="0">
                <a:solidFill>
                  <a:srgbClr val="3A3F4B"/>
                </a:solidFill>
                <a:latin typeface="Calibri" panose="020F0502020204030204" pitchFamily="34" charset="0"/>
                <a:ea typeface="Calibri" panose="020F0502020204030204" pitchFamily="34" charset="-122"/>
                <a:cs typeface="Calibri" panose="020F0502020204030204" pitchFamily="34" charset="-120"/>
              </a:rPr>
              <a:t>When multiple transfers hit the same account at once, naive systems allow lost updates, double-spends, or incorrect final balances.</a:t>
            </a:r>
            <a:endParaRPr lang="en-US" sz="1150" dirty="0"/>
          </a:p>
        </p:txBody>
      </p:sp>
      <p:sp>
        <p:nvSpPr>
          <p:cNvPr id="14" name="Shape 12"/>
          <p:cNvSpPr/>
          <p:nvPr/>
        </p:nvSpPr>
        <p:spPr>
          <a:xfrm>
            <a:off x="548640" y="3703320"/>
            <a:ext cx="5349240" cy="1920240"/>
          </a:xfrm>
          <a:prstGeom prst="roundRect">
            <a:avLst>
              <a:gd name="adj" fmla="val 3810"/>
            </a:avLst>
          </a:prstGeom>
          <a:solidFill>
            <a:srgbClr val="FFFFFF"/>
          </a:solidFill>
          <a:ln w="12700">
            <a:solidFill>
              <a:srgbClr val="CADCFC"/>
            </a:solidFill>
            <a:prstDash val="solid"/>
          </a:ln>
        </p:spPr>
      </p:sp>
      <p:sp>
        <p:nvSpPr>
          <p:cNvPr id="15" name="Shape 13"/>
          <p:cNvSpPr/>
          <p:nvPr/>
        </p:nvSpPr>
        <p:spPr>
          <a:xfrm>
            <a:off x="731520" y="3886200"/>
            <a:ext cx="502920" cy="502920"/>
          </a:xfrm>
          <a:prstGeom prst="roundRect">
            <a:avLst>
              <a:gd name="adj" fmla="val 50909"/>
            </a:avLst>
          </a:prstGeom>
          <a:solidFill>
            <a:srgbClr val="C0453A"/>
          </a:solidFill>
        </p:spPr>
      </p:sp>
      <p:sp>
        <p:nvSpPr>
          <p:cNvPr id="16" name="Text 14"/>
          <p:cNvSpPr/>
          <p:nvPr/>
        </p:nvSpPr>
        <p:spPr>
          <a:xfrm>
            <a:off x="731520" y="3886200"/>
            <a:ext cx="502920" cy="502920"/>
          </a:xfrm>
          <a:prstGeom prst="rect">
            <a:avLst/>
          </a:prstGeom>
          <a:noFill/>
        </p:spPr>
        <p:txBody>
          <a:bodyPr wrap="square"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600" dirty="0"/>
          </a:p>
        </p:txBody>
      </p:sp>
      <p:sp>
        <p:nvSpPr>
          <p:cNvPr id="17" name="Text 15"/>
          <p:cNvSpPr/>
          <p:nvPr/>
        </p:nvSpPr>
        <p:spPr>
          <a:xfrm>
            <a:off x="1371600" y="3867912"/>
            <a:ext cx="4343400" cy="365760"/>
          </a:xfrm>
          <a:prstGeom prst="rect">
            <a:avLst/>
          </a:prstGeom>
          <a:noFill/>
        </p:spPr>
        <p:txBody>
          <a:bodyPr wrap="square" rtlCol="0" anchor="ctr"/>
          <a:lstStyle/>
          <a:p>
            <a:pPr marL="0" indent="0">
              <a:buNone/>
            </a:pPr>
            <a:r>
              <a:rPr lang="en-US" sz="1550" b="1" dirty="0">
                <a:solidFill>
                  <a:srgbClr val="1E2761"/>
                </a:solidFill>
                <a:latin typeface="Calibri" panose="020F0502020204030204" pitchFamily="34" charset="0"/>
                <a:ea typeface="Calibri" panose="020F0502020204030204" pitchFamily="34" charset="-122"/>
                <a:cs typeface="Calibri" panose="020F0502020204030204" pitchFamily="34" charset="-120"/>
              </a:rPr>
              <a:t>Performance Degradation</a:t>
            </a:r>
            <a:endParaRPr lang="en-US" sz="1550" dirty="0"/>
          </a:p>
        </p:txBody>
      </p:sp>
      <p:sp>
        <p:nvSpPr>
          <p:cNvPr id="18" name="Text 16"/>
          <p:cNvSpPr/>
          <p:nvPr/>
        </p:nvSpPr>
        <p:spPr>
          <a:xfrm>
            <a:off x="1371600" y="4270248"/>
            <a:ext cx="4343400" cy="1234440"/>
          </a:xfrm>
          <a:prstGeom prst="rect">
            <a:avLst/>
          </a:prstGeom>
          <a:noFill/>
        </p:spPr>
        <p:txBody>
          <a:bodyPr wrap="square" rtlCol="0" anchor="ctr"/>
          <a:lstStyle/>
          <a:p>
            <a:pPr marL="0" indent="0">
              <a:buNone/>
            </a:pPr>
            <a:r>
              <a:rPr lang="en-US" sz="1150" dirty="0">
                <a:solidFill>
                  <a:srgbClr val="3A3F4B"/>
                </a:solidFill>
                <a:latin typeface="Calibri" panose="020F0502020204030204" pitchFamily="34" charset="0"/>
                <a:ea typeface="Calibri" panose="020F0502020204030204" pitchFamily="34" charset="-122"/>
                <a:cs typeface="Calibri" panose="020F0502020204030204" pitchFamily="34" charset="-120"/>
              </a:rPr>
              <a:t>As customers and transactions grow, simple lookups and reports slow down — a quick balance check can turn frustratingly slow.</a:t>
            </a:r>
            <a:endParaRPr lang="en-US" sz="1150" dirty="0"/>
          </a:p>
        </p:txBody>
      </p:sp>
      <p:sp>
        <p:nvSpPr>
          <p:cNvPr id="19" name="Shape 17"/>
          <p:cNvSpPr/>
          <p:nvPr/>
        </p:nvSpPr>
        <p:spPr>
          <a:xfrm>
            <a:off x="6263640" y="3703320"/>
            <a:ext cx="5349240" cy="1920240"/>
          </a:xfrm>
          <a:prstGeom prst="roundRect">
            <a:avLst>
              <a:gd name="adj" fmla="val 3810"/>
            </a:avLst>
          </a:prstGeom>
          <a:solidFill>
            <a:srgbClr val="FFFFFF"/>
          </a:solidFill>
          <a:ln w="12700">
            <a:solidFill>
              <a:srgbClr val="CADCFC"/>
            </a:solidFill>
            <a:prstDash val="solid"/>
          </a:ln>
        </p:spPr>
      </p:sp>
      <p:sp>
        <p:nvSpPr>
          <p:cNvPr id="20" name="Shape 18"/>
          <p:cNvSpPr/>
          <p:nvPr/>
        </p:nvSpPr>
        <p:spPr>
          <a:xfrm>
            <a:off x="6446520" y="3886200"/>
            <a:ext cx="502920" cy="502920"/>
          </a:xfrm>
          <a:prstGeom prst="roundRect">
            <a:avLst>
              <a:gd name="adj" fmla="val 50909"/>
            </a:avLst>
          </a:prstGeom>
          <a:solidFill>
            <a:srgbClr val="C0453A"/>
          </a:solidFill>
        </p:spPr>
      </p:sp>
      <p:sp>
        <p:nvSpPr>
          <p:cNvPr id="21" name="Text 19"/>
          <p:cNvSpPr/>
          <p:nvPr/>
        </p:nvSpPr>
        <p:spPr>
          <a:xfrm>
            <a:off x="6446520" y="3886200"/>
            <a:ext cx="502920" cy="502920"/>
          </a:xfrm>
          <a:prstGeom prst="rect">
            <a:avLst/>
          </a:prstGeom>
          <a:noFill/>
        </p:spPr>
        <p:txBody>
          <a:bodyPr wrap="square"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4</a:t>
            </a:r>
            <a:endParaRPr lang="en-US" sz="1600" dirty="0"/>
          </a:p>
        </p:txBody>
      </p:sp>
      <p:sp>
        <p:nvSpPr>
          <p:cNvPr id="22" name="Text 20"/>
          <p:cNvSpPr/>
          <p:nvPr/>
        </p:nvSpPr>
        <p:spPr>
          <a:xfrm>
            <a:off x="7086600" y="3867912"/>
            <a:ext cx="4343400" cy="365760"/>
          </a:xfrm>
          <a:prstGeom prst="rect">
            <a:avLst/>
          </a:prstGeom>
          <a:noFill/>
        </p:spPr>
        <p:txBody>
          <a:bodyPr wrap="square" rtlCol="0" anchor="ctr"/>
          <a:lstStyle/>
          <a:p>
            <a:pPr marL="0" indent="0">
              <a:buNone/>
            </a:pPr>
            <a:r>
              <a:rPr lang="en-US" sz="1550" b="1" dirty="0">
                <a:solidFill>
                  <a:srgbClr val="1E2761"/>
                </a:solidFill>
                <a:latin typeface="Calibri" panose="020F0502020204030204" pitchFamily="34" charset="0"/>
                <a:ea typeface="Calibri" panose="020F0502020204030204" pitchFamily="34" charset="-122"/>
                <a:cs typeface="Calibri" panose="020F0502020204030204" pitchFamily="34" charset="-120"/>
              </a:rPr>
              <a:t>Poor Scalability</a:t>
            </a:r>
            <a:endParaRPr lang="en-US" sz="1550" dirty="0"/>
          </a:p>
        </p:txBody>
      </p:sp>
      <p:sp>
        <p:nvSpPr>
          <p:cNvPr id="23" name="Text 21"/>
          <p:cNvSpPr/>
          <p:nvPr/>
        </p:nvSpPr>
        <p:spPr>
          <a:xfrm>
            <a:off x="7086600" y="4270248"/>
            <a:ext cx="4343400" cy="1234440"/>
          </a:xfrm>
          <a:prstGeom prst="rect">
            <a:avLst/>
          </a:prstGeom>
          <a:noFill/>
        </p:spPr>
        <p:txBody>
          <a:bodyPr wrap="square" rtlCol="0" anchor="ctr"/>
          <a:lstStyle/>
          <a:p>
            <a:pPr marL="0" indent="0">
              <a:buNone/>
            </a:pPr>
            <a:r>
              <a:rPr lang="en-US" sz="1150" dirty="0">
                <a:solidFill>
                  <a:srgbClr val="3A3F4B"/>
                </a:solidFill>
                <a:latin typeface="Calibri" panose="020F0502020204030204" pitchFamily="34" charset="0"/>
                <a:ea typeface="Calibri" panose="020F0502020204030204" pitchFamily="34" charset="-122"/>
                <a:cs typeface="Calibri" panose="020F0502020204030204" pitchFamily="34" charset="-120"/>
              </a:rPr>
              <a:t>A single database server cannot serve unlimited users — without replication or sharding, the system hits a hard ceiling.</a:t>
            </a:r>
            <a:endParaRPr lang="en-US" sz="1150" dirty="0"/>
          </a:p>
        </p:txBody>
      </p:sp>
      <p:sp>
        <p:nvSpPr>
          <p:cNvPr id="25" name="Text 23"/>
          <p:cNvSpPr/>
          <p:nvPr/>
        </p:nvSpPr>
        <p:spPr>
          <a:xfrm>
            <a:off x="11521440" y="6537960"/>
            <a:ext cx="365760" cy="274320"/>
          </a:xfrm>
          <a:prstGeom prst="rect">
            <a:avLst/>
          </a:prstGeom>
          <a:noFill/>
        </p:spPr>
        <p:txBody>
          <a:bodyPr wrap="square" rtlCol="0" anchor="ctr"/>
          <a:lstStyle/>
          <a:p>
            <a:pPr marL="0" indent="0" algn="r">
              <a:buNone/>
            </a:pPr>
            <a:r>
              <a:rPr lang="en-US" sz="900" dirty="0">
                <a:solidFill>
                  <a:srgbClr val="5B6572"/>
                </a:solidFill>
                <a:latin typeface="Calibri" panose="020F0502020204030204" pitchFamily="34" charset="0"/>
                <a:ea typeface="Calibri" panose="020F0502020204030204" pitchFamily="34" charset="-122"/>
                <a:cs typeface="Calibri" panose="020F0502020204030204"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9144000" cy="640080"/>
          </a:xfrm>
          <a:prstGeom prst="rect">
            <a:avLst/>
          </a:prstGeom>
          <a:noFill/>
        </p:spPr>
        <p:txBody>
          <a:bodyPr wrap="square" rtlCol="0" anchor="ctr"/>
          <a:lstStyle/>
          <a:p>
            <a:pPr marL="0" indent="0">
              <a:buNone/>
            </a:pPr>
            <a:r>
              <a:rPr lang="en-US" sz="2800" b="1" dirty="0">
                <a:solidFill>
                  <a:srgbClr val="1E2761"/>
                </a:solidFill>
                <a:latin typeface="Cambria" panose="02040503050406030204" pitchFamily="34" charset="0"/>
                <a:ea typeface="Cambria" panose="02040503050406030204" pitchFamily="34" charset="-122"/>
                <a:cs typeface="Cambria" panose="02040503050406030204" pitchFamily="34" charset="-120"/>
              </a:rPr>
              <a:t>Existing vs. Proposed System</a:t>
            </a:r>
            <a:endParaRPr lang="en-US" sz="2800" dirty="0"/>
          </a:p>
        </p:txBody>
      </p:sp>
      <p:sp>
        <p:nvSpPr>
          <p:cNvPr id="3" name="Shape 1"/>
          <p:cNvSpPr/>
          <p:nvPr/>
        </p:nvSpPr>
        <p:spPr>
          <a:xfrm>
            <a:off x="594360" y="1005840"/>
            <a:ext cx="1463040" cy="0"/>
          </a:xfrm>
          <a:prstGeom prst="line">
            <a:avLst/>
          </a:prstGeom>
          <a:noFill/>
          <a:ln w="38100">
            <a:solidFill>
              <a:srgbClr val="D4AF37"/>
            </a:solidFill>
            <a:prstDash val="solid"/>
          </a:ln>
        </p:spPr>
      </p:sp>
      <p:sp>
        <p:nvSpPr>
          <p:cNvPr id="4" name="Shape 2"/>
          <p:cNvSpPr/>
          <p:nvPr/>
        </p:nvSpPr>
        <p:spPr>
          <a:xfrm>
            <a:off x="548640" y="1325880"/>
            <a:ext cx="11155680" cy="457200"/>
          </a:xfrm>
          <a:prstGeom prst="rect">
            <a:avLst/>
          </a:prstGeom>
          <a:solidFill>
            <a:srgbClr val="1E2761"/>
          </a:solidFill>
        </p:spPr>
      </p:sp>
      <p:sp>
        <p:nvSpPr>
          <p:cNvPr id="5" name="Text 3"/>
          <p:cNvSpPr/>
          <p:nvPr/>
        </p:nvSpPr>
        <p:spPr>
          <a:xfrm>
            <a:off x="640080" y="1325880"/>
            <a:ext cx="2468880" cy="457200"/>
          </a:xfrm>
          <a:prstGeom prst="rect">
            <a:avLst/>
          </a:prstGeom>
          <a:noFill/>
        </p:spPr>
        <p:txBody>
          <a:bodyPr wrap="square" rtlCol="0" anchor="ct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Aspect</a:t>
            </a:r>
            <a:endParaRPr lang="en-US" sz="1300" dirty="0"/>
          </a:p>
        </p:txBody>
      </p:sp>
      <p:sp>
        <p:nvSpPr>
          <p:cNvPr id="6" name="Text 4"/>
          <p:cNvSpPr/>
          <p:nvPr/>
        </p:nvSpPr>
        <p:spPr>
          <a:xfrm>
            <a:off x="3108960" y="1325880"/>
            <a:ext cx="3931920" cy="457200"/>
          </a:xfrm>
          <a:prstGeom prst="rect">
            <a:avLst/>
          </a:prstGeom>
          <a:noFill/>
        </p:spPr>
        <p:txBody>
          <a:bodyPr wrap="square" rtlCol="0" anchor="ct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Existing / Typical Approach</a:t>
            </a:r>
            <a:endParaRPr lang="en-US" sz="1300" dirty="0"/>
          </a:p>
        </p:txBody>
      </p:sp>
      <p:sp>
        <p:nvSpPr>
          <p:cNvPr id="7" name="Text 5"/>
          <p:cNvSpPr/>
          <p:nvPr/>
        </p:nvSpPr>
        <p:spPr>
          <a:xfrm>
            <a:off x="7132320" y="1325880"/>
            <a:ext cx="4480560" cy="457200"/>
          </a:xfrm>
          <a:prstGeom prst="rect">
            <a:avLst/>
          </a:prstGeom>
          <a:noFill/>
        </p:spPr>
        <p:txBody>
          <a:bodyPr wrap="square" rtlCol="0" anchor="ct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Proposed System</a:t>
            </a:r>
            <a:endParaRPr lang="en-US" sz="1300" dirty="0"/>
          </a:p>
        </p:txBody>
      </p:sp>
      <p:sp>
        <p:nvSpPr>
          <p:cNvPr id="8" name="Shape 6"/>
          <p:cNvSpPr/>
          <p:nvPr/>
        </p:nvSpPr>
        <p:spPr>
          <a:xfrm>
            <a:off x="548640" y="1783080"/>
            <a:ext cx="11155680" cy="786384"/>
          </a:xfrm>
          <a:prstGeom prst="rect">
            <a:avLst/>
          </a:prstGeom>
          <a:solidFill>
            <a:srgbClr val="F5F7FB"/>
          </a:solidFill>
          <a:ln w="6350">
            <a:solidFill>
              <a:srgbClr val="E3E7EF"/>
            </a:solidFill>
            <a:prstDash val="solid"/>
          </a:ln>
        </p:spPr>
      </p:sp>
      <p:sp>
        <p:nvSpPr>
          <p:cNvPr id="9" name="Text 7"/>
          <p:cNvSpPr/>
          <p:nvPr/>
        </p:nvSpPr>
        <p:spPr>
          <a:xfrm>
            <a:off x="640080" y="1783080"/>
            <a:ext cx="2468880" cy="786384"/>
          </a:xfrm>
          <a:prstGeom prst="rect">
            <a:avLst/>
          </a:prstGeom>
          <a:noFill/>
        </p:spPr>
        <p:txBody>
          <a:bodyPr wrap="square" rtlCol="0" anchor="ctr"/>
          <a:lstStyle/>
          <a:p>
            <a:pPr marL="0" indent="0">
              <a:buNone/>
            </a:pPr>
            <a:r>
              <a:rPr lang="en-US" sz="1200" b="1" dirty="0">
                <a:solidFill>
                  <a:srgbClr val="1E2761"/>
                </a:solidFill>
                <a:latin typeface="Calibri" panose="020F0502020204030204" pitchFamily="34" charset="0"/>
                <a:ea typeface="Calibri" panose="020F0502020204030204" pitchFamily="34" charset="-122"/>
                <a:cs typeface="Calibri" panose="020F0502020204030204" pitchFamily="34" charset="-120"/>
              </a:rPr>
              <a:t>Code Organization</a:t>
            </a:r>
            <a:endParaRPr lang="en-US" sz="1200" dirty="0"/>
          </a:p>
        </p:txBody>
      </p:sp>
      <p:sp>
        <p:nvSpPr>
          <p:cNvPr id="10" name="Text 8"/>
          <p:cNvSpPr/>
          <p:nvPr/>
        </p:nvSpPr>
        <p:spPr>
          <a:xfrm>
            <a:off x="3108960" y="1783080"/>
            <a:ext cx="3931920" cy="786384"/>
          </a:xfrm>
          <a:prstGeom prst="rect">
            <a:avLst/>
          </a:prstGeom>
          <a:noFill/>
        </p:spPr>
        <p:txBody>
          <a:bodyPr wrap="square" rtlCol="0" anchor="ctr"/>
          <a:lstStyle/>
          <a:p>
            <a:pPr marL="0" indent="0">
              <a:buNone/>
            </a:pPr>
            <a:r>
              <a:rPr lang="en-US" sz="1100" b="1" dirty="0">
                <a:solidFill>
                  <a:srgbClr val="C0453A"/>
                </a:solidFill>
                <a:latin typeface="Calibri" panose="020F0502020204030204" pitchFamily="34" charset="0"/>
                <a:ea typeface="Calibri" panose="020F0502020204030204" pitchFamily="34" charset="-122"/>
                <a:cs typeface="Calibri" panose="020F0502020204030204" pitchFamily="34" charset="-120"/>
              </a:rPr>
              <a:t>✕  </a:t>
            </a:r>
            <a:r>
              <a:rPr lang="en-US" sz="1100" dirty="0">
                <a:solidFill>
                  <a:srgbClr val="3A3F4B"/>
                </a:solidFill>
                <a:latin typeface="Calibri" panose="020F0502020204030204" pitchFamily="34" charset="0"/>
                <a:ea typeface="Calibri" panose="020F0502020204030204" pitchFamily="34" charset="-122"/>
                <a:cs typeface="Calibri" panose="020F0502020204030204" pitchFamily="34" charset="-120"/>
              </a:rPr>
              <a:t>Business logic, validation &amp; data access mixed together</a:t>
            </a:r>
            <a:endParaRPr lang="en-US" sz="1100" dirty="0"/>
          </a:p>
        </p:txBody>
      </p:sp>
      <p:sp>
        <p:nvSpPr>
          <p:cNvPr id="11" name="Text 9"/>
          <p:cNvSpPr/>
          <p:nvPr/>
        </p:nvSpPr>
        <p:spPr>
          <a:xfrm>
            <a:off x="7132320" y="1783080"/>
            <a:ext cx="4480560" cy="786384"/>
          </a:xfrm>
          <a:prstGeom prst="rect">
            <a:avLst/>
          </a:prstGeom>
          <a:noFill/>
        </p:spPr>
        <p:txBody>
          <a:bodyPr wrap="square" rtlCol="0" anchor="ctr"/>
          <a:lstStyle/>
          <a:p>
            <a:pPr marL="0" indent="0">
              <a:buNone/>
            </a:pPr>
            <a:r>
              <a:rPr lang="en-US" sz="1100" b="1" dirty="0">
                <a:solidFill>
                  <a:srgbClr val="2E7D5B"/>
                </a:solidFill>
                <a:latin typeface="Calibri" panose="020F0502020204030204" pitchFamily="34" charset="0"/>
                <a:ea typeface="Calibri" panose="020F0502020204030204" pitchFamily="34" charset="-122"/>
                <a:cs typeface="Calibri" panose="020F0502020204030204" pitchFamily="34" charset="-120"/>
              </a:rPr>
              <a:t>✓  </a:t>
            </a:r>
            <a:r>
              <a:rPr lang="en-US" sz="1100" dirty="0">
                <a:solidFill>
                  <a:srgbClr val="3A3F4B"/>
                </a:solidFill>
                <a:latin typeface="Calibri" panose="020F0502020204030204" pitchFamily="34" charset="0"/>
                <a:ea typeface="Calibri" panose="020F0502020204030204" pitchFamily="34" charset="-122"/>
                <a:cs typeface="Calibri" panose="020F0502020204030204" pitchFamily="34" charset="-120"/>
              </a:rPr>
              <a:t>Clear layered separation — routing, validation, service, data access</a:t>
            </a:r>
            <a:endParaRPr lang="en-US" sz="1100" dirty="0"/>
          </a:p>
        </p:txBody>
      </p:sp>
      <p:sp>
        <p:nvSpPr>
          <p:cNvPr id="12" name="Shape 10"/>
          <p:cNvSpPr/>
          <p:nvPr/>
        </p:nvSpPr>
        <p:spPr>
          <a:xfrm>
            <a:off x="548640" y="2569464"/>
            <a:ext cx="11155680" cy="786384"/>
          </a:xfrm>
          <a:prstGeom prst="rect">
            <a:avLst/>
          </a:prstGeom>
          <a:solidFill>
            <a:srgbClr val="FFFFFF"/>
          </a:solidFill>
          <a:ln w="6350">
            <a:solidFill>
              <a:srgbClr val="E3E7EF"/>
            </a:solidFill>
            <a:prstDash val="solid"/>
          </a:ln>
        </p:spPr>
      </p:sp>
      <p:sp>
        <p:nvSpPr>
          <p:cNvPr id="13" name="Text 11"/>
          <p:cNvSpPr/>
          <p:nvPr/>
        </p:nvSpPr>
        <p:spPr>
          <a:xfrm>
            <a:off x="640080" y="2569464"/>
            <a:ext cx="2468880" cy="786384"/>
          </a:xfrm>
          <a:prstGeom prst="rect">
            <a:avLst/>
          </a:prstGeom>
          <a:noFill/>
        </p:spPr>
        <p:txBody>
          <a:bodyPr wrap="square" rtlCol="0" anchor="ctr"/>
          <a:lstStyle/>
          <a:p>
            <a:pPr marL="0" indent="0">
              <a:buNone/>
            </a:pPr>
            <a:r>
              <a:rPr lang="en-US" sz="1200" b="1" dirty="0">
                <a:solidFill>
                  <a:srgbClr val="1E2761"/>
                </a:solidFill>
                <a:latin typeface="Calibri" panose="020F0502020204030204" pitchFamily="34" charset="0"/>
                <a:ea typeface="Calibri" panose="020F0502020204030204" pitchFamily="34" charset="-122"/>
                <a:cs typeface="Calibri" panose="020F0502020204030204" pitchFamily="34" charset="-120"/>
              </a:rPr>
              <a:t>Data Consistency</a:t>
            </a:r>
            <a:endParaRPr lang="en-US" sz="1200" dirty="0"/>
          </a:p>
        </p:txBody>
      </p:sp>
      <p:sp>
        <p:nvSpPr>
          <p:cNvPr id="14" name="Text 12"/>
          <p:cNvSpPr/>
          <p:nvPr/>
        </p:nvSpPr>
        <p:spPr>
          <a:xfrm>
            <a:off x="3108960" y="2569464"/>
            <a:ext cx="3931920" cy="786384"/>
          </a:xfrm>
          <a:prstGeom prst="rect">
            <a:avLst/>
          </a:prstGeom>
          <a:noFill/>
        </p:spPr>
        <p:txBody>
          <a:bodyPr wrap="square" rtlCol="0" anchor="ctr"/>
          <a:lstStyle/>
          <a:p>
            <a:pPr marL="0" indent="0">
              <a:buNone/>
            </a:pPr>
            <a:r>
              <a:rPr lang="en-US" sz="1100" b="1" dirty="0">
                <a:solidFill>
                  <a:srgbClr val="C0453A"/>
                </a:solidFill>
                <a:latin typeface="Calibri" panose="020F0502020204030204" pitchFamily="34" charset="0"/>
                <a:ea typeface="Calibri" panose="020F0502020204030204" pitchFamily="34" charset="-122"/>
                <a:cs typeface="Calibri" panose="020F0502020204030204" pitchFamily="34" charset="-120"/>
              </a:rPr>
              <a:t>✕  </a:t>
            </a:r>
            <a:r>
              <a:rPr lang="en-US" sz="1100" dirty="0">
                <a:solidFill>
                  <a:srgbClr val="3A3F4B"/>
                </a:solidFill>
                <a:latin typeface="Calibri" panose="020F0502020204030204" pitchFamily="34" charset="0"/>
                <a:ea typeface="Calibri" panose="020F0502020204030204" pitchFamily="34" charset="-122"/>
                <a:cs typeface="Calibri" panose="020F0502020204030204" pitchFamily="34" charset="-120"/>
              </a:rPr>
              <a:t>Redundant data, prone to update anomalies</a:t>
            </a:r>
            <a:endParaRPr lang="en-US" sz="1100" dirty="0"/>
          </a:p>
        </p:txBody>
      </p:sp>
      <p:sp>
        <p:nvSpPr>
          <p:cNvPr id="15" name="Text 13"/>
          <p:cNvSpPr/>
          <p:nvPr/>
        </p:nvSpPr>
        <p:spPr>
          <a:xfrm>
            <a:off x="7132320" y="2569464"/>
            <a:ext cx="4480560" cy="786384"/>
          </a:xfrm>
          <a:prstGeom prst="rect">
            <a:avLst/>
          </a:prstGeom>
          <a:noFill/>
        </p:spPr>
        <p:txBody>
          <a:bodyPr wrap="square" rtlCol="0" anchor="ctr"/>
          <a:lstStyle/>
          <a:p>
            <a:pPr marL="0" indent="0">
              <a:buNone/>
            </a:pPr>
            <a:r>
              <a:rPr lang="en-US" sz="1100" b="1" dirty="0">
                <a:solidFill>
                  <a:srgbClr val="2E7D5B"/>
                </a:solidFill>
                <a:latin typeface="Calibri" panose="020F0502020204030204" pitchFamily="34" charset="0"/>
                <a:ea typeface="Calibri" panose="020F0502020204030204" pitchFamily="34" charset="-122"/>
                <a:cs typeface="Calibri" panose="020F0502020204030204" pitchFamily="34" charset="-120"/>
              </a:rPr>
              <a:t>✓  </a:t>
            </a:r>
            <a:r>
              <a:rPr lang="en-US" sz="1100" dirty="0">
                <a:solidFill>
                  <a:srgbClr val="3A3F4B"/>
                </a:solidFill>
                <a:latin typeface="Calibri" panose="020F0502020204030204" pitchFamily="34" charset="0"/>
                <a:ea typeface="Calibri" panose="020F0502020204030204" pitchFamily="34" charset="-122"/>
                <a:cs typeface="Calibri" panose="020F0502020204030204" pitchFamily="34" charset="-120"/>
              </a:rPr>
              <a:t>Normalized schema (up to BCNF) with referential integrity</a:t>
            </a:r>
            <a:endParaRPr lang="en-US" sz="1100" dirty="0"/>
          </a:p>
        </p:txBody>
      </p:sp>
      <p:sp>
        <p:nvSpPr>
          <p:cNvPr id="16" name="Shape 14"/>
          <p:cNvSpPr/>
          <p:nvPr/>
        </p:nvSpPr>
        <p:spPr>
          <a:xfrm>
            <a:off x="548640" y="3355848"/>
            <a:ext cx="11155680" cy="786384"/>
          </a:xfrm>
          <a:prstGeom prst="rect">
            <a:avLst/>
          </a:prstGeom>
          <a:solidFill>
            <a:srgbClr val="F5F7FB"/>
          </a:solidFill>
          <a:ln w="6350">
            <a:solidFill>
              <a:srgbClr val="E3E7EF"/>
            </a:solidFill>
            <a:prstDash val="solid"/>
          </a:ln>
        </p:spPr>
      </p:sp>
      <p:sp>
        <p:nvSpPr>
          <p:cNvPr id="17" name="Text 15"/>
          <p:cNvSpPr/>
          <p:nvPr/>
        </p:nvSpPr>
        <p:spPr>
          <a:xfrm>
            <a:off x="640080" y="3355848"/>
            <a:ext cx="2468880" cy="786384"/>
          </a:xfrm>
          <a:prstGeom prst="rect">
            <a:avLst/>
          </a:prstGeom>
          <a:noFill/>
        </p:spPr>
        <p:txBody>
          <a:bodyPr wrap="square" rtlCol="0" anchor="ctr"/>
          <a:lstStyle/>
          <a:p>
            <a:pPr marL="0" indent="0">
              <a:buNone/>
            </a:pPr>
            <a:r>
              <a:rPr lang="en-US" sz="1200" b="1" dirty="0">
                <a:solidFill>
                  <a:srgbClr val="1E2761"/>
                </a:solidFill>
                <a:latin typeface="Calibri" panose="020F0502020204030204" pitchFamily="34" charset="0"/>
                <a:ea typeface="Calibri" panose="020F0502020204030204" pitchFamily="34" charset="-122"/>
                <a:cs typeface="Calibri" panose="020F0502020204030204" pitchFamily="34" charset="-120"/>
              </a:rPr>
              <a:t>Transaction Safety</a:t>
            </a:r>
            <a:endParaRPr lang="en-US" sz="1200" dirty="0"/>
          </a:p>
        </p:txBody>
      </p:sp>
      <p:sp>
        <p:nvSpPr>
          <p:cNvPr id="18" name="Text 16"/>
          <p:cNvSpPr/>
          <p:nvPr/>
        </p:nvSpPr>
        <p:spPr>
          <a:xfrm>
            <a:off x="3108960" y="3355848"/>
            <a:ext cx="3931920" cy="786384"/>
          </a:xfrm>
          <a:prstGeom prst="rect">
            <a:avLst/>
          </a:prstGeom>
          <a:noFill/>
        </p:spPr>
        <p:txBody>
          <a:bodyPr wrap="square" rtlCol="0" anchor="ctr"/>
          <a:lstStyle/>
          <a:p>
            <a:pPr marL="0" indent="0">
              <a:buNone/>
            </a:pPr>
            <a:r>
              <a:rPr lang="en-US" sz="1100" b="1" dirty="0">
                <a:solidFill>
                  <a:srgbClr val="C0453A"/>
                </a:solidFill>
                <a:latin typeface="Calibri" panose="020F0502020204030204" pitchFamily="34" charset="0"/>
                <a:ea typeface="Calibri" panose="020F0502020204030204" pitchFamily="34" charset="-122"/>
                <a:cs typeface="Calibri" panose="020F0502020204030204" pitchFamily="34" charset="-120"/>
              </a:rPr>
              <a:t>✕  </a:t>
            </a:r>
            <a:r>
              <a:rPr lang="en-US" sz="1100" dirty="0">
                <a:solidFill>
                  <a:srgbClr val="3A3F4B"/>
                </a:solidFill>
                <a:latin typeface="Calibri" panose="020F0502020204030204" pitchFamily="34" charset="0"/>
                <a:ea typeface="Calibri" panose="020F0502020204030204" pitchFamily="34" charset="-122"/>
                <a:cs typeface="Calibri" panose="020F0502020204030204" pitchFamily="34" charset="-120"/>
              </a:rPr>
              <a:t>No formal handling of concurrent updates</a:t>
            </a:r>
            <a:endParaRPr lang="en-US" sz="1100" dirty="0"/>
          </a:p>
        </p:txBody>
      </p:sp>
      <p:sp>
        <p:nvSpPr>
          <p:cNvPr id="19" name="Text 17"/>
          <p:cNvSpPr/>
          <p:nvPr/>
        </p:nvSpPr>
        <p:spPr>
          <a:xfrm>
            <a:off x="7132320" y="3355848"/>
            <a:ext cx="4480560" cy="786384"/>
          </a:xfrm>
          <a:prstGeom prst="rect">
            <a:avLst/>
          </a:prstGeom>
          <a:noFill/>
        </p:spPr>
        <p:txBody>
          <a:bodyPr wrap="square" rtlCol="0" anchor="ctr"/>
          <a:lstStyle/>
          <a:p>
            <a:pPr marL="0" indent="0">
              <a:buNone/>
            </a:pPr>
            <a:r>
              <a:rPr lang="en-US" sz="1100" b="1" dirty="0">
                <a:solidFill>
                  <a:srgbClr val="2E7D5B"/>
                </a:solidFill>
                <a:latin typeface="Calibri" panose="020F0502020204030204" pitchFamily="34" charset="0"/>
                <a:ea typeface="Calibri" panose="020F0502020204030204" pitchFamily="34" charset="-122"/>
                <a:cs typeface="Calibri" panose="020F0502020204030204" pitchFamily="34" charset="-120"/>
              </a:rPr>
              <a:t>✓  </a:t>
            </a:r>
            <a:r>
              <a:rPr lang="en-US" sz="1100" dirty="0">
                <a:solidFill>
                  <a:srgbClr val="3A3F4B"/>
                </a:solidFill>
                <a:latin typeface="Calibri" panose="020F0502020204030204" pitchFamily="34" charset="0"/>
                <a:ea typeface="Calibri" panose="020F0502020204030204" pitchFamily="34" charset="-122"/>
                <a:cs typeface="Calibri" panose="020F0502020204030204" pitchFamily="34" charset="-120"/>
              </a:rPr>
              <a:t>ACID-compliant transactions with defined isolation levels</a:t>
            </a:r>
            <a:endParaRPr lang="en-US" sz="1100" dirty="0"/>
          </a:p>
        </p:txBody>
      </p:sp>
      <p:sp>
        <p:nvSpPr>
          <p:cNvPr id="20" name="Shape 18"/>
          <p:cNvSpPr/>
          <p:nvPr/>
        </p:nvSpPr>
        <p:spPr>
          <a:xfrm>
            <a:off x="548640" y="4142232"/>
            <a:ext cx="11155680" cy="786384"/>
          </a:xfrm>
          <a:prstGeom prst="rect">
            <a:avLst/>
          </a:prstGeom>
          <a:solidFill>
            <a:srgbClr val="FFFFFF"/>
          </a:solidFill>
          <a:ln w="6350">
            <a:solidFill>
              <a:srgbClr val="E3E7EF"/>
            </a:solidFill>
            <a:prstDash val="solid"/>
          </a:ln>
        </p:spPr>
      </p:sp>
      <p:sp>
        <p:nvSpPr>
          <p:cNvPr id="21" name="Text 19"/>
          <p:cNvSpPr/>
          <p:nvPr/>
        </p:nvSpPr>
        <p:spPr>
          <a:xfrm>
            <a:off x="640080" y="4142232"/>
            <a:ext cx="2468880" cy="786384"/>
          </a:xfrm>
          <a:prstGeom prst="rect">
            <a:avLst/>
          </a:prstGeom>
          <a:noFill/>
        </p:spPr>
        <p:txBody>
          <a:bodyPr wrap="square" rtlCol="0" anchor="ctr"/>
          <a:lstStyle/>
          <a:p>
            <a:pPr marL="0" indent="0">
              <a:buNone/>
            </a:pPr>
            <a:r>
              <a:rPr lang="en-US" sz="1200" b="1" dirty="0">
                <a:solidFill>
                  <a:srgbClr val="1E2761"/>
                </a:solidFill>
                <a:latin typeface="Calibri" panose="020F0502020204030204" pitchFamily="34" charset="0"/>
                <a:ea typeface="Calibri" panose="020F0502020204030204" pitchFamily="34" charset="-122"/>
                <a:cs typeface="Calibri" panose="020F0502020204030204" pitchFamily="34" charset="-120"/>
              </a:rPr>
              <a:t>Query Performance</a:t>
            </a:r>
            <a:endParaRPr lang="en-US" sz="1200" dirty="0"/>
          </a:p>
        </p:txBody>
      </p:sp>
      <p:sp>
        <p:nvSpPr>
          <p:cNvPr id="22" name="Text 20"/>
          <p:cNvSpPr/>
          <p:nvPr/>
        </p:nvSpPr>
        <p:spPr>
          <a:xfrm>
            <a:off x="3108960" y="4142232"/>
            <a:ext cx="3931920" cy="786384"/>
          </a:xfrm>
          <a:prstGeom prst="rect">
            <a:avLst/>
          </a:prstGeom>
          <a:noFill/>
        </p:spPr>
        <p:txBody>
          <a:bodyPr wrap="square" rtlCol="0" anchor="ctr"/>
          <a:lstStyle/>
          <a:p>
            <a:pPr marL="0" indent="0">
              <a:buNone/>
            </a:pPr>
            <a:r>
              <a:rPr lang="en-US" sz="1100" b="1" dirty="0">
                <a:solidFill>
                  <a:srgbClr val="C0453A"/>
                </a:solidFill>
                <a:latin typeface="Calibri" panose="020F0502020204030204" pitchFamily="34" charset="0"/>
                <a:ea typeface="Calibri" panose="020F0502020204030204" pitchFamily="34" charset="-122"/>
                <a:cs typeface="Calibri" panose="020F0502020204030204" pitchFamily="34" charset="-120"/>
              </a:rPr>
              <a:t>✕  </a:t>
            </a:r>
            <a:r>
              <a:rPr lang="en-US" sz="1100" dirty="0">
                <a:solidFill>
                  <a:srgbClr val="3A3F4B"/>
                </a:solidFill>
                <a:latin typeface="Calibri" panose="020F0502020204030204" pitchFamily="34" charset="0"/>
                <a:ea typeface="Calibri" panose="020F0502020204030204" pitchFamily="34" charset="-122"/>
                <a:cs typeface="Calibri" panose="020F0502020204030204" pitchFamily="34" charset="-120"/>
              </a:rPr>
              <a:t>Slows down as data grows; no optimization</a:t>
            </a:r>
            <a:endParaRPr lang="en-US" sz="1100" dirty="0"/>
          </a:p>
        </p:txBody>
      </p:sp>
      <p:sp>
        <p:nvSpPr>
          <p:cNvPr id="23" name="Text 21"/>
          <p:cNvSpPr/>
          <p:nvPr/>
        </p:nvSpPr>
        <p:spPr>
          <a:xfrm>
            <a:off x="7132320" y="4142232"/>
            <a:ext cx="4480560" cy="786384"/>
          </a:xfrm>
          <a:prstGeom prst="rect">
            <a:avLst/>
          </a:prstGeom>
          <a:noFill/>
        </p:spPr>
        <p:txBody>
          <a:bodyPr wrap="square" rtlCol="0" anchor="ctr"/>
          <a:lstStyle/>
          <a:p>
            <a:pPr marL="0" indent="0">
              <a:buNone/>
            </a:pPr>
            <a:r>
              <a:rPr lang="en-US" sz="1100" b="1" dirty="0">
                <a:solidFill>
                  <a:srgbClr val="2E7D5B"/>
                </a:solidFill>
                <a:latin typeface="Calibri" panose="020F0502020204030204" pitchFamily="34" charset="0"/>
                <a:ea typeface="Calibri" panose="020F0502020204030204" pitchFamily="34" charset="-122"/>
                <a:cs typeface="Calibri" panose="020F0502020204030204" pitchFamily="34" charset="-120"/>
              </a:rPr>
              <a:t>✓  </a:t>
            </a:r>
            <a:r>
              <a:rPr lang="en-US" sz="1100" dirty="0">
                <a:solidFill>
                  <a:srgbClr val="3A3F4B"/>
                </a:solidFill>
                <a:latin typeface="Calibri" panose="020F0502020204030204" pitchFamily="34" charset="0"/>
                <a:ea typeface="Calibri" panose="020F0502020204030204" pitchFamily="34" charset="-122"/>
                <a:cs typeface="Calibri" panose="020F0502020204030204" pitchFamily="34" charset="-120"/>
              </a:rPr>
              <a:t>Indexed queries, optimizer &amp; EXPLAIN-plan driven tuning</a:t>
            </a:r>
            <a:endParaRPr lang="en-US" sz="1100" dirty="0"/>
          </a:p>
        </p:txBody>
      </p:sp>
      <p:sp>
        <p:nvSpPr>
          <p:cNvPr id="24" name="Shape 22"/>
          <p:cNvSpPr/>
          <p:nvPr/>
        </p:nvSpPr>
        <p:spPr>
          <a:xfrm>
            <a:off x="548640" y="4928616"/>
            <a:ext cx="11155680" cy="786384"/>
          </a:xfrm>
          <a:prstGeom prst="rect">
            <a:avLst/>
          </a:prstGeom>
          <a:solidFill>
            <a:srgbClr val="F5F7FB"/>
          </a:solidFill>
          <a:ln w="6350">
            <a:solidFill>
              <a:srgbClr val="E3E7EF"/>
            </a:solidFill>
            <a:prstDash val="solid"/>
          </a:ln>
        </p:spPr>
      </p:sp>
      <p:sp>
        <p:nvSpPr>
          <p:cNvPr id="25" name="Text 23"/>
          <p:cNvSpPr/>
          <p:nvPr/>
        </p:nvSpPr>
        <p:spPr>
          <a:xfrm>
            <a:off x="640080" y="4928616"/>
            <a:ext cx="2468880" cy="786384"/>
          </a:xfrm>
          <a:prstGeom prst="rect">
            <a:avLst/>
          </a:prstGeom>
          <a:noFill/>
        </p:spPr>
        <p:txBody>
          <a:bodyPr wrap="square" rtlCol="0" anchor="ctr"/>
          <a:lstStyle/>
          <a:p>
            <a:pPr marL="0" indent="0">
              <a:buNone/>
            </a:pPr>
            <a:r>
              <a:rPr lang="en-US" sz="1200" b="1" dirty="0">
                <a:solidFill>
                  <a:srgbClr val="1E2761"/>
                </a:solidFill>
                <a:latin typeface="Calibri" panose="020F0502020204030204" pitchFamily="34" charset="0"/>
                <a:ea typeface="Calibri" panose="020F0502020204030204" pitchFamily="34" charset="-122"/>
                <a:cs typeface="Calibri" panose="020F0502020204030204" pitchFamily="34" charset="-120"/>
              </a:rPr>
              <a:t>Scalability</a:t>
            </a:r>
            <a:endParaRPr lang="en-US" sz="1200" dirty="0"/>
          </a:p>
        </p:txBody>
      </p:sp>
      <p:sp>
        <p:nvSpPr>
          <p:cNvPr id="26" name="Text 24"/>
          <p:cNvSpPr/>
          <p:nvPr/>
        </p:nvSpPr>
        <p:spPr>
          <a:xfrm>
            <a:off x="3108960" y="4928616"/>
            <a:ext cx="3931920" cy="786384"/>
          </a:xfrm>
          <a:prstGeom prst="rect">
            <a:avLst/>
          </a:prstGeom>
          <a:noFill/>
        </p:spPr>
        <p:txBody>
          <a:bodyPr wrap="square" rtlCol="0" anchor="ctr"/>
          <a:lstStyle/>
          <a:p>
            <a:pPr marL="0" indent="0">
              <a:buNone/>
            </a:pPr>
            <a:r>
              <a:rPr lang="en-US" sz="1100" b="1" dirty="0">
                <a:solidFill>
                  <a:srgbClr val="C0453A"/>
                </a:solidFill>
                <a:latin typeface="Calibri" panose="020F0502020204030204" pitchFamily="34" charset="0"/>
                <a:ea typeface="Calibri" panose="020F0502020204030204" pitchFamily="34" charset="-122"/>
                <a:cs typeface="Calibri" panose="020F0502020204030204" pitchFamily="34" charset="-120"/>
              </a:rPr>
              <a:t>✕  </a:t>
            </a:r>
            <a:r>
              <a:rPr lang="en-US" sz="1100" dirty="0">
                <a:solidFill>
                  <a:srgbClr val="3A3F4B"/>
                </a:solidFill>
                <a:latin typeface="Calibri" panose="020F0502020204030204" pitchFamily="34" charset="0"/>
                <a:ea typeface="Calibri" panose="020F0502020204030204" pitchFamily="34" charset="-122"/>
                <a:cs typeface="Calibri" panose="020F0502020204030204" pitchFamily="34" charset="-120"/>
              </a:rPr>
              <a:t>Single database instance; hard ceiling on load</a:t>
            </a:r>
            <a:endParaRPr lang="en-US" sz="1100" dirty="0"/>
          </a:p>
        </p:txBody>
      </p:sp>
      <p:sp>
        <p:nvSpPr>
          <p:cNvPr id="27" name="Text 25"/>
          <p:cNvSpPr/>
          <p:nvPr/>
        </p:nvSpPr>
        <p:spPr>
          <a:xfrm>
            <a:off x="7132320" y="4928616"/>
            <a:ext cx="4480560" cy="786384"/>
          </a:xfrm>
          <a:prstGeom prst="rect">
            <a:avLst/>
          </a:prstGeom>
          <a:noFill/>
        </p:spPr>
        <p:txBody>
          <a:bodyPr wrap="square" rtlCol="0" anchor="ctr"/>
          <a:lstStyle/>
          <a:p>
            <a:pPr marL="0" indent="0">
              <a:buNone/>
            </a:pPr>
            <a:r>
              <a:rPr lang="en-US" sz="1100" b="1" dirty="0">
                <a:solidFill>
                  <a:srgbClr val="2E7D5B"/>
                </a:solidFill>
                <a:latin typeface="Calibri" panose="020F0502020204030204" pitchFamily="34" charset="0"/>
                <a:ea typeface="Calibri" panose="020F0502020204030204" pitchFamily="34" charset="-122"/>
                <a:cs typeface="Calibri" panose="020F0502020204030204" pitchFamily="34" charset="-120"/>
              </a:rPr>
              <a:t>✓  </a:t>
            </a:r>
            <a:r>
              <a:rPr lang="en-US" sz="1100" dirty="0">
                <a:solidFill>
                  <a:srgbClr val="3A3F4B"/>
                </a:solidFill>
                <a:latin typeface="Calibri" panose="020F0502020204030204" pitchFamily="34" charset="0"/>
                <a:ea typeface="Calibri" panose="020F0502020204030204" pitchFamily="34" charset="-122"/>
                <a:cs typeface="Calibri" panose="020F0502020204030204" pitchFamily="34" charset="-120"/>
              </a:rPr>
              <a:t>Read replicas &amp; sharding for horizontal scale</a:t>
            </a:r>
            <a:endParaRPr lang="en-US" sz="1100" dirty="0"/>
          </a:p>
        </p:txBody>
      </p:sp>
      <p:sp>
        <p:nvSpPr>
          <p:cNvPr id="29" name="Text 27"/>
          <p:cNvSpPr/>
          <p:nvPr/>
        </p:nvSpPr>
        <p:spPr>
          <a:xfrm>
            <a:off x="11521440" y="6537960"/>
            <a:ext cx="365760" cy="274320"/>
          </a:xfrm>
          <a:prstGeom prst="rect">
            <a:avLst/>
          </a:prstGeom>
          <a:noFill/>
        </p:spPr>
        <p:txBody>
          <a:bodyPr wrap="square" rtlCol="0" anchor="ctr"/>
          <a:lstStyle/>
          <a:p>
            <a:pPr marL="0" indent="0" algn="r">
              <a:buNone/>
            </a:pPr>
            <a:r>
              <a:rPr lang="en-US" sz="900" dirty="0">
                <a:solidFill>
                  <a:srgbClr val="5B6572"/>
                </a:solidFill>
                <a:latin typeface="Calibri" panose="020F0502020204030204" pitchFamily="34" charset="0"/>
                <a:ea typeface="Calibri" panose="020F0502020204030204" pitchFamily="34" charset="-122"/>
                <a:cs typeface="Calibri" panose="020F0502020204030204"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 name="Text 0"/>
          <p:cNvSpPr/>
          <p:nvPr/>
        </p:nvSpPr>
        <p:spPr>
          <a:xfrm>
            <a:off x="548640" y="365760"/>
            <a:ext cx="10058400" cy="548640"/>
          </a:xfrm>
          <a:prstGeom prst="rect">
            <a:avLst/>
          </a:prstGeom>
          <a:noFill/>
        </p:spPr>
        <p:txBody>
          <a:bodyPr wrap="square" rtlCol="0" anchor="ctr"/>
          <a:lstStyle/>
          <a:p>
            <a:pPr marL="0" indent="0">
              <a:buNone/>
            </a:pPr>
            <a:r>
              <a:rPr lang="en-US" sz="2700" b="1" dirty="0">
                <a:solidFill>
                  <a:srgbClr val="1E2761"/>
                </a:solidFill>
                <a:latin typeface="Cambria" panose="02040503050406030204" pitchFamily="34" charset="0"/>
                <a:ea typeface="Cambria" panose="02040503050406030204" pitchFamily="34" charset="-122"/>
                <a:cs typeface="Cambria" panose="02040503050406030204" pitchFamily="34" charset="-120"/>
              </a:rPr>
              <a:t>Proposed System Architecture</a:t>
            </a:r>
            <a:endParaRPr lang="en-US" sz="2700" dirty="0"/>
          </a:p>
        </p:txBody>
      </p:sp>
      <p:sp>
        <p:nvSpPr>
          <p:cNvPr id="3" name="Text 1"/>
          <p:cNvSpPr/>
          <p:nvPr/>
        </p:nvSpPr>
        <p:spPr>
          <a:xfrm>
            <a:off x="548640" y="896112"/>
            <a:ext cx="10515600" cy="365760"/>
          </a:xfrm>
          <a:prstGeom prst="rect">
            <a:avLst/>
          </a:prstGeom>
          <a:noFill/>
        </p:spPr>
        <p:txBody>
          <a:bodyPr wrap="square" rtlCol="0" anchor="ctr"/>
          <a:lstStyle/>
          <a:p>
            <a:pPr marL="0" indent="0">
              <a:buNone/>
            </a:pPr>
            <a:r>
              <a:rPr lang="en-US" sz="1250" i="1" dirty="0">
                <a:solidFill>
                  <a:srgbClr val="5B6572"/>
                </a:solidFill>
                <a:latin typeface="Calibri" panose="020F0502020204030204" pitchFamily="34" charset="0"/>
                <a:ea typeface="Calibri" panose="020F0502020204030204" pitchFamily="34" charset="-122"/>
                <a:cs typeface="Calibri" panose="020F0502020204030204" pitchFamily="34" charset="-120"/>
              </a:rPr>
              <a:t>From the React screen to the database and back</a:t>
            </a:r>
            <a:endParaRPr lang="en-US" sz="1250" dirty="0"/>
          </a:p>
        </p:txBody>
      </p:sp>
      <p:sp>
        <p:nvSpPr>
          <p:cNvPr id="4" name="Shape 2"/>
          <p:cNvSpPr/>
          <p:nvPr/>
        </p:nvSpPr>
        <p:spPr>
          <a:xfrm>
            <a:off x="1463040" y="1417320"/>
            <a:ext cx="7315200" cy="685800"/>
          </a:xfrm>
          <a:prstGeom prst="roundRect">
            <a:avLst>
              <a:gd name="adj" fmla="val 8000"/>
            </a:avLst>
          </a:prstGeom>
          <a:solidFill>
            <a:srgbClr val="D4AF37"/>
          </a:solidFill>
          <a:ln w="15875">
            <a:solidFill>
              <a:srgbClr val="1E2761"/>
            </a:solidFill>
            <a:prstDash val="solid"/>
          </a:ln>
        </p:spPr>
      </p:sp>
      <p:sp>
        <p:nvSpPr>
          <p:cNvPr id="5" name="Text 3"/>
          <p:cNvSpPr/>
          <p:nvPr/>
        </p:nvSpPr>
        <p:spPr>
          <a:xfrm>
            <a:off x="1691640" y="1417320"/>
            <a:ext cx="2834640" cy="685800"/>
          </a:xfrm>
          <a:prstGeom prst="rect">
            <a:avLst/>
          </a:prstGeom>
          <a:noFill/>
        </p:spPr>
        <p:txBody>
          <a:bodyPr wrap="square" rtlCol="0" anchor="ctr"/>
          <a:lstStyle/>
          <a:p>
            <a:pPr marL="0" indent="0">
              <a:buNone/>
            </a:pPr>
            <a:r>
              <a:rPr lang="en-US" sz="1300" b="1" dirty="0">
                <a:solidFill>
                  <a:srgbClr val="141B4D"/>
                </a:solidFill>
                <a:latin typeface="Calibri" panose="020F0502020204030204" pitchFamily="34" charset="0"/>
                <a:ea typeface="Calibri" panose="020F0502020204030204" pitchFamily="34" charset="-122"/>
                <a:cs typeface="Calibri" panose="020F0502020204030204" pitchFamily="34" charset="-120"/>
              </a:rPr>
              <a:t>React Frontend</a:t>
            </a:r>
            <a:endParaRPr lang="en-US" sz="1300" dirty="0"/>
          </a:p>
        </p:txBody>
      </p:sp>
      <p:sp>
        <p:nvSpPr>
          <p:cNvPr id="6" name="Text 4"/>
          <p:cNvSpPr/>
          <p:nvPr/>
        </p:nvSpPr>
        <p:spPr>
          <a:xfrm>
            <a:off x="4572000" y="1417320"/>
            <a:ext cx="4114800" cy="685800"/>
          </a:xfrm>
          <a:prstGeom prst="rect">
            <a:avLst/>
          </a:prstGeom>
          <a:noFill/>
        </p:spPr>
        <p:txBody>
          <a:bodyPr wrap="square" rtlCol="0" anchor="ctr"/>
          <a:lstStyle/>
          <a:p>
            <a:pPr marL="0" indent="0">
              <a:buNone/>
            </a:pPr>
            <a:r>
              <a:rPr lang="en-US" sz="1000" dirty="0">
                <a:solidFill>
                  <a:srgbClr val="3A3F4B"/>
                </a:solidFill>
                <a:latin typeface="Calibri" panose="020F0502020204030204" pitchFamily="34" charset="0"/>
                <a:ea typeface="Calibri" panose="020F0502020204030204" pitchFamily="34" charset="-122"/>
                <a:cs typeface="Calibri" panose="020F0502020204030204" pitchFamily="34" charset="-120"/>
              </a:rPr>
              <a:t>Login, Dashboard, Transfer &amp; Transaction History screens</a:t>
            </a:r>
            <a:endParaRPr lang="en-US" sz="1000" dirty="0"/>
          </a:p>
        </p:txBody>
      </p:sp>
      <p:sp>
        <p:nvSpPr>
          <p:cNvPr id="7" name="Text 5"/>
          <p:cNvSpPr/>
          <p:nvPr/>
        </p:nvSpPr>
        <p:spPr>
          <a:xfrm>
            <a:off x="4937760" y="2084832"/>
            <a:ext cx="457200" cy="219456"/>
          </a:xfrm>
          <a:prstGeom prst="rect">
            <a:avLst/>
          </a:prstGeom>
          <a:noFill/>
        </p:spPr>
        <p:txBody>
          <a:bodyPr wrap="square" rtlCol="0" anchor="ctr"/>
          <a:lstStyle/>
          <a:p>
            <a:pPr marL="0" indent="0" algn="ctr">
              <a:buNone/>
            </a:pPr>
            <a:r>
              <a:rPr lang="en-US" sz="1300" dirty="0">
                <a:solidFill>
                  <a:srgbClr val="D4AF37"/>
                </a:solidFill>
              </a:rPr>
              <a:t>▼</a:t>
            </a:r>
            <a:endParaRPr lang="en-US" sz="1300" dirty="0"/>
          </a:p>
        </p:txBody>
      </p:sp>
      <p:sp>
        <p:nvSpPr>
          <p:cNvPr id="8" name="Shape 6"/>
          <p:cNvSpPr/>
          <p:nvPr/>
        </p:nvSpPr>
        <p:spPr>
          <a:xfrm>
            <a:off x="1463040" y="2286000"/>
            <a:ext cx="7315200" cy="685800"/>
          </a:xfrm>
          <a:prstGeom prst="roundRect">
            <a:avLst>
              <a:gd name="adj" fmla="val 8000"/>
            </a:avLst>
          </a:prstGeom>
          <a:solidFill>
            <a:srgbClr val="FFFFFF"/>
          </a:solidFill>
          <a:ln w="15875">
            <a:solidFill>
              <a:srgbClr val="1E2761"/>
            </a:solidFill>
            <a:prstDash val="solid"/>
          </a:ln>
        </p:spPr>
      </p:sp>
      <p:sp>
        <p:nvSpPr>
          <p:cNvPr id="9" name="Text 7"/>
          <p:cNvSpPr/>
          <p:nvPr/>
        </p:nvSpPr>
        <p:spPr>
          <a:xfrm>
            <a:off x="1691640" y="2286000"/>
            <a:ext cx="2834640" cy="685800"/>
          </a:xfrm>
          <a:prstGeom prst="rect">
            <a:avLst/>
          </a:prstGeom>
          <a:noFill/>
        </p:spPr>
        <p:txBody>
          <a:bodyPr wrap="square" rtlCol="0" anchor="ctr"/>
          <a:lstStyle/>
          <a:p>
            <a:pPr marL="0" indent="0">
              <a:buNone/>
            </a:pPr>
            <a:r>
              <a:rPr lang="en-US" sz="1300" b="1" dirty="0">
                <a:solidFill>
                  <a:srgbClr val="1E2761"/>
                </a:solidFill>
                <a:latin typeface="Calibri" panose="020F0502020204030204" pitchFamily="34" charset="0"/>
                <a:ea typeface="Calibri" panose="020F0502020204030204" pitchFamily="34" charset="-122"/>
                <a:cs typeface="Calibri" panose="020F0502020204030204" pitchFamily="34" charset="-120"/>
              </a:rPr>
              <a:t>Request Handling (Express.js)</a:t>
            </a:r>
            <a:endParaRPr lang="en-US" sz="1300" dirty="0"/>
          </a:p>
        </p:txBody>
      </p:sp>
      <p:sp>
        <p:nvSpPr>
          <p:cNvPr id="10" name="Text 8"/>
          <p:cNvSpPr/>
          <p:nvPr/>
        </p:nvSpPr>
        <p:spPr>
          <a:xfrm>
            <a:off x="4572000" y="2286000"/>
            <a:ext cx="4114800" cy="685800"/>
          </a:xfrm>
          <a:prstGeom prst="rect">
            <a:avLst/>
          </a:prstGeom>
          <a:noFill/>
        </p:spPr>
        <p:txBody>
          <a:bodyPr wrap="square" rtlCol="0" anchor="ctr"/>
          <a:lstStyle/>
          <a:p>
            <a:pPr marL="0" indent="0">
              <a:buNone/>
            </a:pPr>
            <a:r>
              <a:rPr lang="en-US" sz="1000" dirty="0">
                <a:solidFill>
                  <a:srgbClr val="3A3F4B"/>
                </a:solidFill>
                <a:latin typeface="Calibri" panose="020F0502020204030204" pitchFamily="34" charset="0"/>
                <a:ea typeface="Calibri" panose="020F0502020204030204" pitchFamily="34" charset="-122"/>
                <a:cs typeface="Calibri" panose="020F0502020204030204" pitchFamily="34" charset="-120"/>
              </a:rPr>
              <a:t>Receives HTTP request, parses payload, routes it</a:t>
            </a:r>
            <a:endParaRPr lang="en-US" sz="1000" dirty="0"/>
          </a:p>
        </p:txBody>
      </p:sp>
      <p:sp>
        <p:nvSpPr>
          <p:cNvPr id="11" name="Text 9"/>
          <p:cNvSpPr/>
          <p:nvPr/>
        </p:nvSpPr>
        <p:spPr>
          <a:xfrm>
            <a:off x="4937760" y="2953512"/>
            <a:ext cx="457200" cy="219456"/>
          </a:xfrm>
          <a:prstGeom prst="rect">
            <a:avLst/>
          </a:prstGeom>
          <a:noFill/>
        </p:spPr>
        <p:txBody>
          <a:bodyPr wrap="square" rtlCol="0" anchor="ctr"/>
          <a:lstStyle/>
          <a:p>
            <a:pPr marL="0" indent="0" algn="ctr">
              <a:buNone/>
            </a:pPr>
            <a:r>
              <a:rPr lang="en-US" sz="1300" dirty="0">
                <a:solidFill>
                  <a:srgbClr val="D4AF37"/>
                </a:solidFill>
              </a:rPr>
              <a:t>▼</a:t>
            </a:r>
            <a:endParaRPr lang="en-US" sz="1300" dirty="0"/>
          </a:p>
        </p:txBody>
      </p:sp>
      <p:sp>
        <p:nvSpPr>
          <p:cNvPr id="12" name="Shape 10"/>
          <p:cNvSpPr/>
          <p:nvPr/>
        </p:nvSpPr>
        <p:spPr>
          <a:xfrm>
            <a:off x="1463040" y="3154680"/>
            <a:ext cx="7315200" cy="685800"/>
          </a:xfrm>
          <a:prstGeom prst="roundRect">
            <a:avLst>
              <a:gd name="adj" fmla="val 8000"/>
            </a:avLst>
          </a:prstGeom>
          <a:solidFill>
            <a:srgbClr val="FFFFFF"/>
          </a:solidFill>
          <a:ln w="15875">
            <a:solidFill>
              <a:srgbClr val="1E2761"/>
            </a:solidFill>
            <a:prstDash val="solid"/>
          </a:ln>
        </p:spPr>
      </p:sp>
      <p:sp>
        <p:nvSpPr>
          <p:cNvPr id="13" name="Text 11"/>
          <p:cNvSpPr/>
          <p:nvPr/>
        </p:nvSpPr>
        <p:spPr>
          <a:xfrm>
            <a:off x="1691640" y="3154680"/>
            <a:ext cx="2834640" cy="685800"/>
          </a:xfrm>
          <a:prstGeom prst="rect">
            <a:avLst/>
          </a:prstGeom>
          <a:noFill/>
        </p:spPr>
        <p:txBody>
          <a:bodyPr wrap="square" rtlCol="0" anchor="ctr"/>
          <a:lstStyle/>
          <a:p>
            <a:pPr marL="0" indent="0">
              <a:buNone/>
            </a:pPr>
            <a:r>
              <a:rPr lang="en-US" sz="1300" b="1" dirty="0">
                <a:solidFill>
                  <a:srgbClr val="1E2761"/>
                </a:solidFill>
                <a:latin typeface="Calibri" panose="020F0502020204030204" pitchFamily="34" charset="0"/>
                <a:ea typeface="Calibri" panose="020F0502020204030204" pitchFamily="34" charset="-122"/>
                <a:cs typeface="Calibri" panose="020F0502020204030204" pitchFamily="34" charset="-120"/>
              </a:rPr>
              <a:t>Validation</a:t>
            </a:r>
            <a:endParaRPr lang="en-US" sz="1300" dirty="0"/>
          </a:p>
        </p:txBody>
      </p:sp>
      <p:sp>
        <p:nvSpPr>
          <p:cNvPr id="14" name="Text 12"/>
          <p:cNvSpPr/>
          <p:nvPr/>
        </p:nvSpPr>
        <p:spPr>
          <a:xfrm>
            <a:off x="4572000" y="3154680"/>
            <a:ext cx="4114800" cy="685800"/>
          </a:xfrm>
          <a:prstGeom prst="rect">
            <a:avLst/>
          </a:prstGeom>
          <a:noFill/>
        </p:spPr>
        <p:txBody>
          <a:bodyPr wrap="square" rtlCol="0" anchor="ctr"/>
          <a:lstStyle/>
          <a:p>
            <a:pPr marL="0" indent="0">
              <a:buNone/>
            </a:pPr>
            <a:r>
              <a:rPr lang="en-US" sz="1000" dirty="0">
                <a:solidFill>
                  <a:srgbClr val="3A3F4B"/>
                </a:solidFill>
                <a:latin typeface="Calibri" panose="020F0502020204030204" pitchFamily="34" charset="0"/>
                <a:ea typeface="Calibri" panose="020F0502020204030204" pitchFamily="34" charset="-122"/>
                <a:cs typeface="Calibri" panose="020F0502020204030204" pitchFamily="34" charset="-120"/>
              </a:rPr>
              <a:t>Checks input schema, account ownership, sufficient balance</a:t>
            </a:r>
            <a:endParaRPr lang="en-US" sz="1000" dirty="0"/>
          </a:p>
        </p:txBody>
      </p:sp>
      <p:sp>
        <p:nvSpPr>
          <p:cNvPr id="15" name="Text 13"/>
          <p:cNvSpPr/>
          <p:nvPr/>
        </p:nvSpPr>
        <p:spPr>
          <a:xfrm>
            <a:off x="4937760" y="3822192"/>
            <a:ext cx="457200" cy="219456"/>
          </a:xfrm>
          <a:prstGeom prst="rect">
            <a:avLst/>
          </a:prstGeom>
          <a:noFill/>
        </p:spPr>
        <p:txBody>
          <a:bodyPr wrap="square" rtlCol="0" anchor="ctr"/>
          <a:lstStyle/>
          <a:p>
            <a:pPr marL="0" indent="0" algn="ctr">
              <a:buNone/>
            </a:pPr>
            <a:r>
              <a:rPr lang="en-US" sz="1300" dirty="0">
                <a:solidFill>
                  <a:srgbClr val="D4AF37"/>
                </a:solidFill>
              </a:rPr>
              <a:t>▼</a:t>
            </a:r>
            <a:endParaRPr lang="en-US" sz="1300" dirty="0"/>
          </a:p>
        </p:txBody>
      </p:sp>
      <p:sp>
        <p:nvSpPr>
          <p:cNvPr id="16" name="Shape 14"/>
          <p:cNvSpPr/>
          <p:nvPr/>
        </p:nvSpPr>
        <p:spPr>
          <a:xfrm>
            <a:off x="1463040" y="4023360"/>
            <a:ext cx="7315200" cy="685800"/>
          </a:xfrm>
          <a:prstGeom prst="roundRect">
            <a:avLst>
              <a:gd name="adj" fmla="val 8000"/>
            </a:avLst>
          </a:prstGeom>
          <a:solidFill>
            <a:srgbClr val="FFFFFF"/>
          </a:solidFill>
          <a:ln w="15875">
            <a:solidFill>
              <a:srgbClr val="1E2761"/>
            </a:solidFill>
            <a:prstDash val="solid"/>
          </a:ln>
        </p:spPr>
      </p:sp>
      <p:sp>
        <p:nvSpPr>
          <p:cNvPr id="17" name="Text 15"/>
          <p:cNvSpPr/>
          <p:nvPr/>
        </p:nvSpPr>
        <p:spPr>
          <a:xfrm>
            <a:off x="1691640" y="4023360"/>
            <a:ext cx="2834640" cy="685800"/>
          </a:xfrm>
          <a:prstGeom prst="rect">
            <a:avLst/>
          </a:prstGeom>
          <a:noFill/>
        </p:spPr>
        <p:txBody>
          <a:bodyPr wrap="square" rtlCol="0" anchor="ctr"/>
          <a:lstStyle/>
          <a:p>
            <a:pPr marL="0" indent="0">
              <a:buNone/>
            </a:pPr>
            <a:r>
              <a:rPr lang="en-US" sz="1300" b="1" dirty="0">
                <a:solidFill>
                  <a:srgbClr val="1E2761"/>
                </a:solidFill>
                <a:latin typeface="Calibri" panose="020F0502020204030204" pitchFamily="34" charset="0"/>
                <a:ea typeface="Calibri" panose="020F0502020204030204" pitchFamily="34" charset="-122"/>
                <a:cs typeface="Calibri" panose="020F0502020204030204" pitchFamily="34" charset="-120"/>
              </a:rPr>
              <a:t>Service / Business Logic</a:t>
            </a:r>
            <a:endParaRPr lang="en-US" sz="1300" dirty="0"/>
          </a:p>
        </p:txBody>
      </p:sp>
      <p:sp>
        <p:nvSpPr>
          <p:cNvPr id="18" name="Text 16"/>
          <p:cNvSpPr/>
          <p:nvPr/>
        </p:nvSpPr>
        <p:spPr>
          <a:xfrm>
            <a:off x="4572000" y="4023360"/>
            <a:ext cx="4114800" cy="685800"/>
          </a:xfrm>
          <a:prstGeom prst="rect">
            <a:avLst/>
          </a:prstGeom>
          <a:noFill/>
        </p:spPr>
        <p:txBody>
          <a:bodyPr wrap="square" rtlCol="0" anchor="ctr"/>
          <a:lstStyle/>
          <a:p>
            <a:pPr marL="0" indent="0">
              <a:buNone/>
            </a:pPr>
            <a:r>
              <a:rPr lang="en-US" sz="1000" dirty="0">
                <a:solidFill>
                  <a:srgbClr val="3A3F4B"/>
                </a:solidFill>
                <a:latin typeface="Calibri" panose="020F0502020204030204" pitchFamily="34" charset="0"/>
                <a:ea typeface="Calibri" panose="020F0502020204030204" pitchFamily="34" charset="-122"/>
                <a:cs typeface="Calibri" panose="020F0502020204030204" pitchFamily="34" charset="-120"/>
              </a:rPr>
              <a:t>Applies banking rules, computes balances, orchestrates transfer</a:t>
            </a:r>
            <a:endParaRPr lang="en-US" sz="1000" dirty="0"/>
          </a:p>
        </p:txBody>
      </p:sp>
      <p:sp>
        <p:nvSpPr>
          <p:cNvPr id="19" name="Text 17"/>
          <p:cNvSpPr/>
          <p:nvPr/>
        </p:nvSpPr>
        <p:spPr>
          <a:xfrm>
            <a:off x="4937760" y="4690872"/>
            <a:ext cx="457200" cy="219456"/>
          </a:xfrm>
          <a:prstGeom prst="rect">
            <a:avLst/>
          </a:prstGeom>
          <a:noFill/>
        </p:spPr>
        <p:txBody>
          <a:bodyPr wrap="square" rtlCol="0" anchor="ctr"/>
          <a:lstStyle/>
          <a:p>
            <a:pPr marL="0" indent="0" algn="ctr">
              <a:buNone/>
            </a:pPr>
            <a:r>
              <a:rPr lang="en-US" sz="1300" dirty="0">
                <a:solidFill>
                  <a:srgbClr val="D4AF37"/>
                </a:solidFill>
              </a:rPr>
              <a:t>▼</a:t>
            </a:r>
            <a:endParaRPr lang="en-US" sz="1300" dirty="0"/>
          </a:p>
        </p:txBody>
      </p:sp>
      <p:sp>
        <p:nvSpPr>
          <p:cNvPr id="20" name="Shape 18"/>
          <p:cNvSpPr/>
          <p:nvPr/>
        </p:nvSpPr>
        <p:spPr>
          <a:xfrm>
            <a:off x="1463040" y="4892040"/>
            <a:ext cx="7315200" cy="685800"/>
          </a:xfrm>
          <a:prstGeom prst="roundRect">
            <a:avLst>
              <a:gd name="adj" fmla="val 8000"/>
            </a:avLst>
          </a:prstGeom>
          <a:solidFill>
            <a:srgbClr val="FFFFFF"/>
          </a:solidFill>
          <a:ln w="15875">
            <a:solidFill>
              <a:srgbClr val="1E2761"/>
            </a:solidFill>
            <a:prstDash val="solid"/>
          </a:ln>
        </p:spPr>
      </p:sp>
      <p:sp>
        <p:nvSpPr>
          <p:cNvPr id="21" name="Text 19"/>
          <p:cNvSpPr/>
          <p:nvPr/>
        </p:nvSpPr>
        <p:spPr>
          <a:xfrm>
            <a:off x="1691640" y="4892040"/>
            <a:ext cx="2834640" cy="685800"/>
          </a:xfrm>
          <a:prstGeom prst="rect">
            <a:avLst/>
          </a:prstGeom>
          <a:noFill/>
        </p:spPr>
        <p:txBody>
          <a:bodyPr wrap="square" rtlCol="0" anchor="ctr"/>
          <a:lstStyle/>
          <a:p>
            <a:pPr marL="0" indent="0">
              <a:buNone/>
            </a:pPr>
            <a:r>
              <a:rPr lang="en-US" sz="1300" b="1" dirty="0">
                <a:solidFill>
                  <a:srgbClr val="1E2761"/>
                </a:solidFill>
                <a:latin typeface="Calibri" panose="020F0502020204030204" pitchFamily="34" charset="0"/>
                <a:ea typeface="Calibri" panose="020F0502020204030204" pitchFamily="34" charset="-122"/>
                <a:cs typeface="Calibri" panose="020F0502020204030204" pitchFamily="34" charset="-120"/>
              </a:rPr>
              <a:t>Data Access Layer</a:t>
            </a:r>
            <a:endParaRPr lang="en-US" sz="1300" dirty="0"/>
          </a:p>
        </p:txBody>
      </p:sp>
      <p:sp>
        <p:nvSpPr>
          <p:cNvPr id="22" name="Text 20"/>
          <p:cNvSpPr/>
          <p:nvPr/>
        </p:nvSpPr>
        <p:spPr>
          <a:xfrm>
            <a:off x="4572000" y="4892040"/>
            <a:ext cx="4114800" cy="685800"/>
          </a:xfrm>
          <a:prstGeom prst="rect">
            <a:avLst/>
          </a:prstGeom>
          <a:noFill/>
        </p:spPr>
        <p:txBody>
          <a:bodyPr wrap="square" rtlCol="0" anchor="ctr"/>
          <a:lstStyle/>
          <a:p>
            <a:pPr marL="0" indent="0">
              <a:buNone/>
            </a:pPr>
            <a:r>
              <a:rPr lang="en-US" sz="1000" dirty="0">
                <a:solidFill>
                  <a:srgbClr val="3A3F4B"/>
                </a:solidFill>
                <a:latin typeface="Calibri" panose="020F0502020204030204" pitchFamily="34" charset="0"/>
                <a:ea typeface="Calibri" panose="020F0502020204030204" pitchFamily="34" charset="-122"/>
                <a:cs typeface="Calibri" panose="020F0502020204030204" pitchFamily="34" charset="-120"/>
              </a:rPr>
              <a:t>Builds SQL statements, manages transaction boundary</a:t>
            </a:r>
            <a:endParaRPr lang="en-US" sz="1000" dirty="0"/>
          </a:p>
        </p:txBody>
      </p:sp>
      <p:sp>
        <p:nvSpPr>
          <p:cNvPr id="23" name="Text 21"/>
          <p:cNvSpPr/>
          <p:nvPr/>
        </p:nvSpPr>
        <p:spPr>
          <a:xfrm>
            <a:off x="4937760" y="5559552"/>
            <a:ext cx="457200" cy="219456"/>
          </a:xfrm>
          <a:prstGeom prst="rect">
            <a:avLst/>
          </a:prstGeom>
          <a:noFill/>
        </p:spPr>
        <p:txBody>
          <a:bodyPr wrap="square" rtlCol="0" anchor="ctr"/>
          <a:lstStyle/>
          <a:p>
            <a:pPr marL="0" indent="0" algn="ctr">
              <a:buNone/>
            </a:pPr>
            <a:r>
              <a:rPr lang="en-US" sz="1300" dirty="0">
                <a:solidFill>
                  <a:srgbClr val="D4AF37"/>
                </a:solidFill>
              </a:rPr>
              <a:t>▼</a:t>
            </a:r>
            <a:endParaRPr lang="en-US" sz="1300" dirty="0"/>
          </a:p>
        </p:txBody>
      </p:sp>
      <p:sp>
        <p:nvSpPr>
          <p:cNvPr id="24" name="Shape 22"/>
          <p:cNvSpPr/>
          <p:nvPr/>
        </p:nvSpPr>
        <p:spPr>
          <a:xfrm>
            <a:off x="1463040" y="5760720"/>
            <a:ext cx="7315200" cy="685800"/>
          </a:xfrm>
          <a:prstGeom prst="roundRect">
            <a:avLst>
              <a:gd name="adj" fmla="val 8000"/>
            </a:avLst>
          </a:prstGeom>
          <a:solidFill>
            <a:srgbClr val="1E2761"/>
          </a:solidFill>
          <a:ln w="15875">
            <a:solidFill>
              <a:srgbClr val="1E2761"/>
            </a:solidFill>
            <a:prstDash val="solid"/>
          </a:ln>
        </p:spPr>
      </p:sp>
      <p:sp>
        <p:nvSpPr>
          <p:cNvPr id="25" name="Text 23"/>
          <p:cNvSpPr/>
          <p:nvPr/>
        </p:nvSpPr>
        <p:spPr>
          <a:xfrm>
            <a:off x="1691640" y="5760720"/>
            <a:ext cx="2834640" cy="685800"/>
          </a:xfrm>
          <a:prstGeom prst="rect">
            <a:avLst/>
          </a:prstGeom>
          <a:noFill/>
        </p:spPr>
        <p:txBody>
          <a:bodyPr wrap="square" rtlCol="0" anchor="ct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PostgreSQL — Persistence</a:t>
            </a:r>
            <a:endParaRPr lang="en-US" sz="1300" dirty="0"/>
          </a:p>
        </p:txBody>
      </p:sp>
      <p:sp>
        <p:nvSpPr>
          <p:cNvPr id="26" name="Text 24"/>
          <p:cNvSpPr/>
          <p:nvPr/>
        </p:nvSpPr>
        <p:spPr>
          <a:xfrm>
            <a:off x="4572000" y="5760720"/>
            <a:ext cx="4114800" cy="685800"/>
          </a:xfrm>
          <a:prstGeom prst="rect">
            <a:avLst/>
          </a:prstGeom>
          <a:noFill/>
        </p:spPr>
        <p:txBody>
          <a:bodyPr wrap="square" rtlCol="0" anchor="ctr"/>
          <a:lstStyle/>
          <a:p>
            <a:pPr marL="0" indent="0">
              <a:buNone/>
            </a:pPr>
            <a:r>
              <a:rPr lang="en-US" sz="1000" dirty="0">
                <a:solidFill>
                  <a:srgbClr val="CADCFC"/>
                </a:solidFill>
                <a:latin typeface="Calibri" panose="020F0502020204030204" pitchFamily="34" charset="0"/>
                <a:ea typeface="Calibri" panose="020F0502020204030204" pitchFamily="34" charset="-122"/>
                <a:cs typeface="Calibri" panose="020F0502020204030204" pitchFamily="34" charset="-120"/>
              </a:rPr>
              <a:t>Primary node (writes, ACID) + Replicas (reads) + Sharding by customer ID</a:t>
            </a:r>
            <a:endParaRPr lang="en-US" sz="1000" dirty="0"/>
          </a:p>
        </p:txBody>
      </p:sp>
      <p:sp>
        <p:nvSpPr>
          <p:cNvPr id="27" name="Text 25"/>
          <p:cNvSpPr/>
          <p:nvPr/>
        </p:nvSpPr>
        <p:spPr>
          <a:xfrm>
            <a:off x="9144000" y="1508760"/>
            <a:ext cx="2377440" cy="365760"/>
          </a:xfrm>
          <a:prstGeom prst="rect">
            <a:avLst/>
          </a:prstGeom>
          <a:noFill/>
        </p:spPr>
        <p:txBody>
          <a:bodyPr wrap="square" rtlCol="0" anchor="ctr"/>
          <a:lstStyle/>
          <a:p>
            <a:pPr marL="0" indent="0" algn="ctr">
              <a:buNone/>
            </a:pPr>
            <a:r>
              <a:rPr lang="en-US" sz="1200" b="1" dirty="0">
                <a:solidFill>
                  <a:srgbClr val="1E2761"/>
                </a:solidFill>
                <a:latin typeface="Calibri" panose="020F0502020204030204" pitchFamily="34" charset="0"/>
                <a:ea typeface="Calibri" panose="020F0502020204030204" pitchFamily="34" charset="-122"/>
                <a:cs typeface="Calibri" panose="020F0502020204030204" pitchFamily="34" charset="-120"/>
              </a:rPr>
              <a:t>Request</a:t>
            </a:r>
            <a:endParaRPr lang="en-US" sz="1200" dirty="0"/>
          </a:p>
        </p:txBody>
      </p:sp>
      <p:sp>
        <p:nvSpPr>
          <p:cNvPr id="28" name="Shape 26"/>
          <p:cNvSpPr/>
          <p:nvPr/>
        </p:nvSpPr>
        <p:spPr>
          <a:xfrm>
            <a:off x="9052560" y="5120640"/>
            <a:ext cx="2560320" cy="594360"/>
          </a:xfrm>
          <a:prstGeom prst="roundRect">
            <a:avLst>
              <a:gd name="adj" fmla="val 12308"/>
            </a:avLst>
          </a:prstGeom>
          <a:solidFill>
            <a:srgbClr val="D4AF37"/>
          </a:solidFill>
        </p:spPr>
      </p:sp>
      <p:sp>
        <p:nvSpPr>
          <p:cNvPr id="29" name="Text 27"/>
          <p:cNvSpPr/>
          <p:nvPr/>
        </p:nvSpPr>
        <p:spPr>
          <a:xfrm>
            <a:off x="9052560" y="5120640"/>
            <a:ext cx="2560320" cy="594360"/>
          </a:xfrm>
          <a:prstGeom prst="rect">
            <a:avLst/>
          </a:prstGeom>
          <a:noFill/>
        </p:spPr>
        <p:txBody>
          <a:bodyPr wrap="square" rtlCol="0" anchor="ctr"/>
          <a:lstStyle/>
          <a:p>
            <a:pPr marL="0" indent="0" algn="ctr">
              <a:buNone/>
            </a:pPr>
            <a:r>
              <a:rPr lang="en-US" sz="1200" b="1" dirty="0">
                <a:solidFill>
                  <a:srgbClr val="141B4D"/>
                </a:solidFill>
                <a:latin typeface="Calibri" panose="020F0502020204030204" pitchFamily="34" charset="0"/>
                <a:ea typeface="Calibri" panose="020F0502020204030204" pitchFamily="34" charset="-122"/>
                <a:cs typeface="Calibri" panose="020F0502020204030204" pitchFamily="34" charset="-120"/>
              </a:rPr>
              <a:t>JSON Response</a:t>
            </a:r>
            <a:endParaRPr lang="en-US" sz="1200" dirty="0"/>
          </a:p>
        </p:txBody>
      </p:sp>
      <p:sp>
        <p:nvSpPr>
          <p:cNvPr id="31" name="Text 29"/>
          <p:cNvSpPr/>
          <p:nvPr/>
        </p:nvSpPr>
        <p:spPr>
          <a:xfrm>
            <a:off x="11521440" y="6537960"/>
            <a:ext cx="365760" cy="274320"/>
          </a:xfrm>
          <a:prstGeom prst="rect">
            <a:avLst/>
          </a:prstGeom>
          <a:noFill/>
        </p:spPr>
        <p:txBody>
          <a:bodyPr wrap="square" rtlCol="0" anchor="ctr"/>
          <a:lstStyle/>
          <a:p>
            <a:pPr marL="0" indent="0" algn="r">
              <a:buNone/>
            </a:pPr>
            <a:r>
              <a:rPr lang="en-US" sz="900" dirty="0">
                <a:solidFill>
                  <a:srgbClr val="5B6572"/>
                </a:solidFill>
                <a:latin typeface="Calibri" panose="020F0502020204030204" pitchFamily="34" charset="0"/>
                <a:ea typeface="Calibri" panose="020F0502020204030204" pitchFamily="34" charset="-122"/>
                <a:cs typeface="Calibri" panose="020F0502020204030204"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3" name="Text 1"/>
          <p:cNvSpPr/>
          <p:nvPr/>
        </p:nvSpPr>
        <p:spPr>
          <a:xfrm>
            <a:off x="640080" y="502920"/>
            <a:ext cx="8229600" cy="685800"/>
          </a:xfrm>
          <a:prstGeom prst="rect">
            <a:avLst/>
          </a:prstGeom>
          <a:noFill/>
        </p:spPr>
        <p:txBody>
          <a:bodyPr wrap="square" rtlCol="0" anchor="ctr"/>
          <a:lstStyle/>
          <a:p>
            <a:pPr marL="0" indent="0">
              <a:buNone/>
            </a:pPr>
            <a:r>
              <a:rPr lang="en-US" sz="3200" b="1" dirty="0">
                <a:solidFill>
                  <a:srgbClr val="FFFFFF"/>
                </a:solidFill>
                <a:latin typeface="Cambria" panose="02040503050406030204" pitchFamily="34" charset="0"/>
                <a:ea typeface="Cambria" panose="02040503050406030204" pitchFamily="34" charset="-122"/>
                <a:cs typeface="Cambria" panose="02040503050406030204" pitchFamily="34" charset="-120"/>
              </a:rPr>
              <a:t>Tools Used</a:t>
            </a:r>
            <a:endParaRPr lang="en-US" sz="3200" dirty="0"/>
          </a:p>
        </p:txBody>
      </p:sp>
      <p:sp>
        <p:nvSpPr>
          <p:cNvPr id="4" name="Text 2"/>
          <p:cNvSpPr/>
          <p:nvPr/>
        </p:nvSpPr>
        <p:spPr>
          <a:xfrm>
            <a:off x="640080" y="1170432"/>
            <a:ext cx="8229600" cy="411480"/>
          </a:xfrm>
          <a:prstGeom prst="rect">
            <a:avLst/>
          </a:prstGeom>
          <a:noFill/>
        </p:spPr>
        <p:txBody>
          <a:bodyPr wrap="square" rtlCol="0" anchor="ctr"/>
          <a:lstStyle/>
          <a:p>
            <a:pPr marL="0" indent="0">
              <a:buNone/>
            </a:pPr>
            <a:r>
              <a:rPr lang="en-US" sz="1350" i="1" dirty="0">
                <a:solidFill>
                  <a:srgbClr val="CADCFC"/>
                </a:solidFill>
                <a:latin typeface="Calibri" panose="020F0502020204030204" pitchFamily="34" charset="0"/>
                <a:ea typeface="Calibri" panose="020F0502020204030204" pitchFamily="34" charset="-122"/>
                <a:cs typeface="Calibri" panose="020F0502020204030204" pitchFamily="34" charset="-120"/>
              </a:rPr>
              <a:t>The technologies that power each layer of the system</a:t>
            </a:r>
            <a:endParaRPr lang="en-US" sz="1350" dirty="0"/>
          </a:p>
        </p:txBody>
      </p:sp>
      <p:sp>
        <p:nvSpPr>
          <p:cNvPr id="5" name="Shape 3"/>
          <p:cNvSpPr/>
          <p:nvPr/>
        </p:nvSpPr>
        <p:spPr>
          <a:xfrm>
            <a:off x="548640" y="1874520"/>
            <a:ext cx="3520440" cy="3566160"/>
          </a:xfrm>
          <a:prstGeom prst="roundRect">
            <a:avLst>
              <a:gd name="adj" fmla="val 2597"/>
            </a:avLst>
          </a:prstGeom>
          <a:solidFill>
            <a:srgbClr val="141B4D"/>
          </a:solidFill>
          <a:ln w="15875">
            <a:solidFill>
              <a:srgbClr val="D4AF37"/>
            </a:solidFill>
            <a:prstDash val="solid"/>
          </a:ln>
        </p:spPr>
      </p:sp>
      <p:sp>
        <p:nvSpPr>
          <p:cNvPr id="6" name="Text 4"/>
          <p:cNvSpPr/>
          <p:nvPr/>
        </p:nvSpPr>
        <p:spPr>
          <a:xfrm>
            <a:off x="548640" y="2103120"/>
            <a:ext cx="3520440" cy="777240"/>
          </a:xfrm>
          <a:prstGeom prst="rect">
            <a:avLst/>
          </a:prstGeom>
          <a:noFill/>
        </p:spPr>
        <p:txBody>
          <a:bodyPr wrap="square" rtlCol="0" anchor="ctr"/>
          <a:lstStyle/>
          <a:p>
            <a:pPr marL="0" indent="0" algn="ctr">
              <a:buNone/>
            </a:pPr>
            <a:r>
              <a:rPr lang="en-US" sz="3400" dirty="0">
                <a:solidFill>
                  <a:srgbClr val="D4AF37"/>
                </a:solidFill>
                <a:latin typeface="Arial" panose="020B0604020202020204" pitchFamily="34" charset="0"/>
                <a:ea typeface="Arial" panose="020B0604020202020204" pitchFamily="34" charset="-122"/>
                <a:cs typeface="Arial" panose="020B0604020202020204" pitchFamily="34" charset="-120"/>
              </a:rPr>
              <a:t>⚛</a:t>
            </a:r>
            <a:endParaRPr lang="en-US" sz="3400" dirty="0"/>
          </a:p>
        </p:txBody>
      </p:sp>
      <p:sp>
        <p:nvSpPr>
          <p:cNvPr id="7" name="Text 5"/>
          <p:cNvSpPr/>
          <p:nvPr/>
        </p:nvSpPr>
        <p:spPr>
          <a:xfrm>
            <a:off x="685800" y="2926080"/>
            <a:ext cx="3246120" cy="411480"/>
          </a:xfrm>
          <a:prstGeom prst="rect">
            <a:avLst/>
          </a:prstGeom>
          <a:noFill/>
        </p:spPr>
        <p:txBody>
          <a:bodyPr wrap="square" rtlCol="0" anchor="ctr"/>
          <a:lstStyle/>
          <a:p>
            <a:pPr marL="0" indent="0" algn="ctr">
              <a:buNone/>
            </a:pPr>
            <a:r>
              <a:rPr lang="en-US" sz="1700" b="1" dirty="0">
                <a:solidFill>
                  <a:srgbClr val="FFFFFF"/>
                </a:solidFill>
                <a:latin typeface="Cambria" panose="02040503050406030204" pitchFamily="34" charset="0"/>
                <a:ea typeface="Cambria" panose="02040503050406030204" pitchFamily="34" charset="-122"/>
                <a:cs typeface="Cambria" panose="02040503050406030204" pitchFamily="34" charset="-120"/>
              </a:rPr>
              <a:t>React.js</a:t>
            </a:r>
            <a:endParaRPr lang="en-US" sz="1700" dirty="0"/>
          </a:p>
        </p:txBody>
      </p:sp>
      <p:sp>
        <p:nvSpPr>
          <p:cNvPr id="8" name="Shape 6"/>
          <p:cNvSpPr/>
          <p:nvPr/>
        </p:nvSpPr>
        <p:spPr>
          <a:xfrm>
            <a:off x="1623060" y="3355848"/>
            <a:ext cx="1371600" cy="292608"/>
          </a:xfrm>
          <a:prstGeom prst="roundRect">
            <a:avLst>
              <a:gd name="adj" fmla="val 50000"/>
            </a:avLst>
          </a:prstGeom>
          <a:solidFill>
            <a:srgbClr val="D4AF37"/>
          </a:solidFill>
        </p:spPr>
      </p:sp>
      <p:sp>
        <p:nvSpPr>
          <p:cNvPr id="9" name="Text 7"/>
          <p:cNvSpPr/>
          <p:nvPr/>
        </p:nvSpPr>
        <p:spPr>
          <a:xfrm>
            <a:off x="1623060" y="3355848"/>
            <a:ext cx="1371600" cy="292608"/>
          </a:xfrm>
          <a:prstGeom prst="rect">
            <a:avLst/>
          </a:prstGeom>
          <a:noFill/>
        </p:spPr>
        <p:txBody>
          <a:bodyPr wrap="square" rtlCol="0" anchor="ctr"/>
          <a:lstStyle/>
          <a:p>
            <a:pPr marL="0" indent="0" algn="ctr">
              <a:buNone/>
            </a:pPr>
            <a:r>
              <a:rPr lang="en-US" sz="1050" b="1" dirty="0">
                <a:solidFill>
                  <a:srgbClr val="141B4D"/>
                </a:solidFill>
                <a:latin typeface="Calibri" panose="020F0502020204030204" pitchFamily="34" charset="0"/>
                <a:ea typeface="Calibri" panose="020F0502020204030204" pitchFamily="34" charset="-122"/>
                <a:cs typeface="Calibri" panose="020F0502020204030204" pitchFamily="34" charset="-120"/>
              </a:rPr>
              <a:t>Frontend</a:t>
            </a:r>
            <a:endParaRPr lang="en-US" sz="1050" dirty="0"/>
          </a:p>
        </p:txBody>
      </p:sp>
      <p:sp>
        <p:nvSpPr>
          <p:cNvPr id="10" name="Text 8"/>
          <p:cNvSpPr/>
          <p:nvPr/>
        </p:nvSpPr>
        <p:spPr>
          <a:xfrm>
            <a:off x="777240" y="3840480"/>
            <a:ext cx="3063240" cy="1463040"/>
          </a:xfrm>
          <a:prstGeom prst="rect">
            <a:avLst/>
          </a:prstGeom>
          <a:noFill/>
        </p:spPr>
        <p:txBody>
          <a:bodyPr wrap="square" rtlCol="0" anchor="t"/>
          <a:lstStyle/>
          <a:p>
            <a:pPr marL="0" indent="0" algn="ctr">
              <a:buNone/>
            </a:pPr>
            <a:r>
              <a:rPr lang="en-US" sz="1100" dirty="0">
                <a:solidFill>
                  <a:srgbClr val="CADCFC"/>
                </a:solidFill>
                <a:latin typeface="Calibri" panose="020F0502020204030204" pitchFamily="34" charset="0"/>
                <a:ea typeface="Calibri" panose="020F0502020204030204" pitchFamily="34" charset="-122"/>
                <a:cs typeface="Calibri" panose="020F0502020204030204" pitchFamily="34" charset="-120"/>
              </a:rPr>
              <a:t>Builds the screens — Login, Dashboard, Transfer, Transaction History — as reusable UI components that call the backend.</a:t>
            </a:r>
            <a:endParaRPr lang="en-US" sz="1100" dirty="0"/>
          </a:p>
        </p:txBody>
      </p:sp>
      <p:sp>
        <p:nvSpPr>
          <p:cNvPr id="11" name="Shape 9"/>
          <p:cNvSpPr/>
          <p:nvPr/>
        </p:nvSpPr>
        <p:spPr>
          <a:xfrm>
            <a:off x="4343400" y="1874520"/>
            <a:ext cx="3520440" cy="3566160"/>
          </a:xfrm>
          <a:prstGeom prst="roundRect">
            <a:avLst>
              <a:gd name="adj" fmla="val 2597"/>
            </a:avLst>
          </a:prstGeom>
          <a:solidFill>
            <a:srgbClr val="141B4D"/>
          </a:solidFill>
          <a:ln w="15875">
            <a:solidFill>
              <a:srgbClr val="D4AF37"/>
            </a:solidFill>
            <a:prstDash val="solid"/>
          </a:ln>
        </p:spPr>
      </p:sp>
      <p:sp>
        <p:nvSpPr>
          <p:cNvPr id="12" name="Text 10"/>
          <p:cNvSpPr/>
          <p:nvPr/>
        </p:nvSpPr>
        <p:spPr>
          <a:xfrm>
            <a:off x="4343400" y="2103120"/>
            <a:ext cx="3520440" cy="777240"/>
          </a:xfrm>
          <a:prstGeom prst="rect">
            <a:avLst/>
          </a:prstGeom>
          <a:noFill/>
        </p:spPr>
        <p:txBody>
          <a:bodyPr wrap="square" rtlCol="0" anchor="ctr"/>
          <a:lstStyle/>
          <a:p>
            <a:pPr marL="0" indent="0" algn="ctr">
              <a:buNone/>
            </a:pPr>
            <a:r>
              <a:rPr lang="en-US" sz="3400" dirty="0">
                <a:solidFill>
                  <a:srgbClr val="D4AF37"/>
                </a:solidFill>
                <a:latin typeface="Arial" panose="020B0604020202020204" pitchFamily="34" charset="0"/>
                <a:ea typeface="Arial" panose="020B0604020202020204" pitchFamily="34" charset="-122"/>
                <a:cs typeface="Arial" panose="020B0604020202020204" pitchFamily="34" charset="-120"/>
              </a:rPr>
              <a:t>◈</a:t>
            </a:r>
            <a:endParaRPr lang="en-US" sz="3400" dirty="0"/>
          </a:p>
        </p:txBody>
      </p:sp>
      <p:sp>
        <p:nvSpPr>
          <p:cNvPr id="13" name="Text 11"/>
          <p:cNvSpPr/>
          <p:nvPr/>
        </p:nvSpPr>
        <p:spPr>
          <a:xfrm>
            <a:off x="4480560" y="2926080"/>
            <a:ext cx="3246120" cy="411480"/>
          </a:xfrm>
          <a:prstGeom prst="rect">
            <a:avLst/>
          </a:prstGeom>
          <a:noFill/>
        </p:spPr>
        <p:txBody>
          <a:bodyPr wrap="square" rtlCol="0" anchor="ctr"/>
          <a:lstStyle/>
          <a:p>
            <a:pPr marL="0" indent="0" algn="ctr">
              <a:buNone/>
            </a:pPr>
            <a:r>
              <a:rPr lang="en-US" sz="1700" b="1" dirty="0">
                <a:solidFill>
                  <a:srgbClr val="FFFFFF"/>
                </a:solidFill>
                <a:latin typeface="Cambria" panose="02040503050406030204" pitchFamily="34" charset="0"/>
                <a:ea typeface="Cambria" panose="02040503050406030204" pitchFamily="34" charset="-122"/>
                <a:cs typeface="Cambria" panose="02040503050406030204" pitchFamily="34" charset="-120"/>
              </a:rPr>
              <a:t>Node.js + Express.js</a:t>
            </a:r>
            <a:endParaRPr lang="en-US" sz="1700" dirty="0"/>
          </a:p>
        </p:txBody>
      </p:sp>
      <p:sp>
        <p:nvSpPr>
          <p:cNvPr id="14" name="Shape 12"/>
          <p:cNvSpPr/>
          <p:nvPr/>
        </p:nvSpPr>
        <p:spPr>
          <a:xfrm>
            <a:off x="5417820" y="3355848"/>
            <a:ext cx="1371600" cy="292608"/>
          </a:xfrm>
          <a:prstGeom prst="roundRect">
            <a:avLst>
              <a:gd name="adj" fmla="val 50000"/>
            </a:avLst>
          </a:prstGeom>
          <a:solidFill>
            <a:srgbClr val="D4AF37"/>
          </a:solidFill>
        </p:spPr>
      </p:sp>
      <p:sp>
        <p:nvSpPr>
          <p:cNvPr id="15" name="Text 13"/>
          <p:cNvSpPr/>
          <p:nvPr/>
        </p:nvSpPr>
        <p:spPr>
          <a:xfrm>
            <a:off x="5417820" y="3355848"/>
            <a:ext cx="1371600" cy="292608"/>
          </a:xfrm>
          <a:prstGeom prst="rect">
            <a:avLst/>
          </a:prstGeom>
          <a:noFill/>
        </p:spPr>
        <p:txBody>
          <a:bodyPr wrap="square" rtlCol="0" anchor="ctr"/>
          <a:lstStyle/>
          <a:p>
            <a:pPr marL="0" indent="0" algn="ctr">
              <a:buNone/>
            </a:pPr>
            <a:r>
              <a:rPr lang="en-US" sz="1050" b="1" dirty="0">
                <a:solidFill>
                  <a:srgbClr val="141B4D"/>
                </a:solidFill>
                <a:latin typeface="Calibri" panose="020F0502020204030204" pitchFamily="34" charset="0"/>
                <a:ea typeface="Calibri" panose="020F0502020204030204" pitchFamily="34" charset="-122"/>
                <a:cs typeface="Calibri" panose="020F0502020204030204" pitchFamily="34" charset="-120"/>
              </a:rPr>
              <a:t>Backend</a:t>
            </a:r>
            <a:endParaRPr lang="en-US" sz="1050" dirty="0"/>
          </a:p>
        </p:txBody>
      </p:sp>
      <p:sp>
        <p:nvSpPr>
          <p:cNvPr id="16" name="Text 14"/>
          <p:cNvSpPr/>
          <p:nvPr/>
        </p:nvSpPr>
        <p:spPr>
          <a:xfrm>
            <a:off x="4572000" y="3840480"/>
            <a:ext cx="3063240" cy="1463040"/>
          </a:xfrm>
          <a:prstGeom prst="rect">
            <a:avLst/>
          </a:prstGeom>
          <a:noFill/>
        </p:spPr>
        <p:txBody>
          <a:bodyPr wrap="square" rtlCol="0" anchor="t"/>
          <a:lstStyle/>
          <a:p>
            <a:pPr marL="0" indent="0" algn="ctr">
              <a:buNone/>
            </a:pPr>
            <a:r>
              <a:rPr lang="en-US" sz="1100" dirty="0">
                <a:solidFill>
                  <a:srgbClr val="CADCFC"/>
                </a:solidFill>
                <a:latin typeface="Calibri" panose="020F0502020204030204" pitchFamily="34" charset="0"/>
                <a:ea typeface="Calibri" panose="020F0502020204030204" pitchFamily="34" charset="-122"/>
                <a:cs typeface="Calibri" panose="020F0502020204030204" pitchFamily="34" charset="-120"/>
              </a:rPr>
              <a:t>Runs the server. Node.js lets JavaScript run outside a browser; Express.js handles incoming requests and routes them (e.g. /transfer).</a:t>
            </a:r>
            <a:endParaRPr lang="en-US" sz="1100" dirty="0"/>
          </a:p>
        </p:txBody>
      </p:sp>
      <p:sp>
        <p:nvSpPr>
          <p:cNvPr id="17" name="Shape 15"/>
          <p:cNvSpPr/>
          <p:nvPr/>
        </p:nvSpPr>
        <p:spPr>
          <a:xfrm>
            <a:off x="8138160" y="1874520"/>
            <a:ext cx="3520440" cy="3566160"/>
          </a:xfrm>
          <a:prstGeom prst="roundRect">
            <a:avLst>
              <a:gd name="adj" fmla="val 2597"/>
            </a:avLst>
          </a:prstGeom>
          <a:solidFill>
            <a:srgbClr val="141B4D"/>
          </a:solidFill>
          <a:ln w="15875">
            <a:solidFill>
              <a:srgbClr val="D4AF37"/>
            </a:solidFill>
            <a:prstDash val="solid"/>
          </a:ln>
        </p:spPr>
      </p:sp>
      <p:sp>
        <p:nvSpPr>
          <p:cNvPr id="18" name="Text 16"/>
          <p:cNvSpPr/>
          <p:nvPr/>
        </p:nvSpPr>
        <p:spPr>
          <a:xfrm>
            <a:off x="8138160" y="2103120"/>
            <a:ext cx="3520440" cy="777240"/>
          </a:xfrm>
          <a:prstGeom prst="rect">
            <a:avLst/>
          </a:prstGeom>
          <a:noFill/>
        </p:spPr>
        <p:txBody>
          <a:bodyPr wrap="square" rtlCol="0" anchor="ctr"/>
          <a:lstStyle/>
          <a:p>
            <a:pPr marL="0" indent="0" algn="ctr">
              <a:buNone/>
            </a:pPr>
            <a:r>
              <a:rPr lang="en-US" sz="3400" dirty="0">
                <a:solidFill>
                  <a:srgbClr val="D4AF37"/>
                </a:solidFill>
                <a:latin typeface="Arial" panose="020B0604020202020204" pitchFamily="34" charset="0"/>
                <a:ea typeface="Arial" panose="020B0604020202020204" pitchFamily="34" charset="-122"/>
                <a:cs typeface="Arial" panose="020B0604020202020204" pitchFamily="34" charset="-120"/>
              </a:rPr>
              <a:t>▤</a:t>
            </a:r>
            <a:endParaRPr lang="en-US" sz="3400" dirty="0"/>
          </a:p>
        </p:txBody>
      </p:sp>
      <p:sp>
        <p:nvSpPr>
          <p:cNvPr id="19" name="Text 17"/>
          <p:cNvSpPr/>
          <p:nvPr/>
        </p:nvSpPr>
        <p:spPr>
          <a:xfrm>
            <a:off x="8275320" y="2926080"/>
            <a:ext cx="3246120" cy="411480"/>
          </a:xfrm>
          <a:prstGeom prst="rect">
            <a:avLst/>
          </a:prstGeom>
          <a:noFill/>
        </p:spPr>
        <p:txBody>
          <a:bodyPr wrap="square" rtlCol="0" anchor="ctr"/>
          <a:lstStyle/>
          <a:p>
            <a:pPr marL="0" indent="0" algn="ctr">
              <a:buNone/>
            </a:pPr>
            <a:r>
              <a:rPr lang="en-IN" altLang="en-US" sz="1700" b="1" dirty="0">
                <a:solidFill>
                  <a:srgbClr val="FFFFFF"/>
                </a:solidFill>
                <a:latin typeface="Cambria" panose="02040503050406030204" pitchFamily="34" charset="0"/>
                <a:ea typeface="Cambria" panose="02040503050406030204" pitchFamily="34" charset="-122"/>
                <a:cs typeface="Cambria" panose="02040503050406030204" pitchFamily="34" charset="-120"/>
              </a:rPr>
              <a:t>My</a:t>
            </a:r>
            <a:r>
              <a:rPr lang="en-US" sz="1700" b="1" dirty="0">
                <a:solidFill>
                  <a:srgbClr val="FFFFFF"/>
                </a:solidFill>
                <a:latin typeface="Cambria" panose="02040503050406030204" pitchFamily="34" charset="0"/>
                <a:ea typeface="Cambria" panose="02040503050406030204" pitchFamily="34" charset="-122"/>
                <a:cs typeface="Cambria" panose="02040503050406030204" pitchFamily="34" charset="-120"/>
              </a:rPr>
              <a:t>SQL</a:t>
            </a:r>
            <a:endParaRPr lang="en-US" sz="1700" dirty="0"/>
          </a:p>
        </p:txBody>
      </p:sp>
      <p:sp>
        <p:nvSpPr>
          <p:cNvPr id="20" name="Shape 18"/>
          <p:cNvSpPr/>
          <p:nvPr/>
        </p:nvSpPr>
        <p:spPr>
          <a:xfrm>
            <a:off x="9212580" y="3355848"/>
            <a:ext cx="1371600" cy="292608"/>
          </a:xfrm>
          <a:prstGeom prst="roundRect">
            <a:avLst>
              <a:gd name="adj" fmla="val 50000"/>
            </a:avLst>
          </a:prstGeom>
          <a:solidFill>
            <a:srgbClr val="D4AF37"/>
          </a:solidFill>
        </p:spPr>
      </p:sp>
      <p:sp>
        <p:nvSpPr>
          <p:cNvPr id="21" name="Text 19"/>
          <p:cNvSpPr/>
          <p:nvPr/>
        </p:nvSpPr>
        <p:spPr>
          <a:xfrm>
            <a:off x="9212580" y="3355848"/>
            <a:ext cx="1371600" cy="292608"/>
          </a:xfrm>
          <a:prstGeom prst="rect">
            <a:avLst/>
          </a:prstGeom>
          <a:noFill/>
        </p:spPr>
        <p:txBody>
          <a:bodyPr wrap="square" rtlCol="0" anchor="ctr"/>
          <a:lstStyle/>
          <a:p>
            <a:pPr marL="0" indent="0" algn="ctr">
              <a:buNone/>
            </a:pPr>
            <a:r>
              <a:rPr lang="en-US" sz="1050" b="1" dirty="0">
                <a:solidFill>
                  <a:srgbClr val="141B4D"/>
                </a:solidFill>
                <a:latin typeface="Calibri" panose="020F0502020204030204" pitchFamily="34" charset="0"/>
                <a:ea typeface="Calibri" panose="020F0502020204030204" pitchFamily="34" charset="-122"/>
                <a:cs typeface="Calibri" panose="020F0502020204030204" pitchFamily="34" charset="-120"/>
              </a:rPr>
              <a:t>Database</a:t>
            </a:r>
            <a:endParaRPr lang="en-US" sz="1050" dirty="0"/>
          </a:p>
        </p:txBody>
      </p:sp>
      <p:sp>
        <p:nvSpPr>
          <p:cNvPr id="22" name="Text 20"/>
          <p:cNvSpPr/>
          <p:nvPr/>
        </p:nvSpPr>
        <p:spPr>
          <a:xfrm>
            <a:off x="8366760" y="3840480"/>
            <a:ext cx="3063240" cy="1463040"/>
          </a:xfrm>
          <a:prstGeom prst="rect">
            <a:avLst/>
          </a:prstGeom>
          <a:noFill/>
        </p:spPr>
        <p:txBody>
          <a:bodyPr wrap="square" rtlCol="0" anchor="t"/>
          <a:lstStyle/>
          <a:p>
            <a:pPr marL="0" indent="0" algn="ctr">
              <a:buNone/>
            </a:pPr>
            <a:r>
              <a:rPr lang="en-US" sz="1100" dirty="0">
                <a:solidFill>
                  <a:srgbClr val="CADCFC"/>
                </a:solidFill>
                <a:latin typeface="Calibri" panose="020F0502020204030204" pitchFamily="34" charset="0"/>
                <a:ea typeface="Calibri" panose="020F0502020204030204" pitchFamily="34" charset="-122"/>
                <a:cs typeface="Calibri" panose="020F0502020204030204" pitchFamily="34" charset="-120"/>
              </a:rPr>
              <a:t>Stores all data — customers, accounts, transactions — permanently and safely, and enforces the ACID rules described in the abstract.</a:t>
            </a:r>
            <a:endParaRPr lang="en-US" sz="1100" dirty="0"/>
          </a:p>
        </p:txBody>
      </p:sp>
      <p:sp>
        <p:nvSpPr>
          <p:cNvPr id="24" name="Text 22"/>
          <p:cNvSpPr/>
          <p:nvPr/>
        </p:nvSpPr>
        <p:spPr>
          <a:xfrm>
            <a:off x="11521440" y="6537960"/>
            <a:ext cx="365760" cy="274320"/>
          </a:xfrm>
          <a:prstGeom prst="rect">
            <a:avLst/>
          </a:prstGeom>
          <a:noFill/>
        </p:spPr>
        <p:txBody>
          <a:bodyPr wrap="square" rtlCol="0" anchor="ctr"/>
          <a:lstStyle/>
          <a:p>
            <a:pPr marL="0" indent="0" algn="r">
              <a:buNone/>
            </a:pPr>
            <a:r>
              <a:rPr lang="en-US" sz="900" dirty="0">
                <a:solidFill>
                  <a:srgbClr val="5B6572"/>
                </a:solidFill>
                <a:latin typeface="Calibri" panose="020F0502020204030204" pitchFamily="34" charset="0"/>
                <a:ea typeface="Calibri" panose="020F0502020204030204" pitchFamily="34" charset="-122"/>
                <a:cs typeface="Calibri" panose="020F0502020204030204"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5" name="Text 3"/>
          <p:cNvSpPr/>
          <p:nvPr/>
        </p:nvSpPr>
        <p:spPr>
          <a:xfrm>
            <a:off x="4289368" y="2327564"/>
            <a:ext cx="3350028" cy="1604356"/>
          </a:xfrm>
          <a:prstGeom prst="rect">
            <a:avLst/>
          </a:prstGeom>
          <a:noFill/>
        </p:spPr>
        <p:txBody>
          <a:bodyPr wrap="square" rtlCol="0" anchor="ctr"/>
          <a:lstStyle/>
          <a:p>
            <a:pPr marL="0" indent="0">
              <a:lnSpc>
                <a:spcPct val="105000"/>
              </a:lnSpc>
              <a:buNone/>
            </a:pPr>
            <a:r>
              <a:rPr lang="en-US" sz="4200" b="1" dirty="0">
                <a:solidFill>
                  <a:srgbClr val="FFFFFF"/>
                </a:solidFill>
                <a:latin typeface="Cambria" panose="02040503050406030204" pitchFamily="34" charset="0"/>
                <a:ea typeface="Cambria" panose="02040503050406030204" pitchFamily="34" charset="-122"/>
                <a:cs typeface="Cambria" panose="02040503050406030204" pitchFamily="34" charset="-120"/>
              </a:rPr>
              <a:t>THANK  YOU</a:t>
            </a:r>
            <a:endParaRPr lang="en-US" sz="4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3640</Words>
  <Application>WPS Presentation</Application>
  <PresentationFormat>Widescreen</PresentationFormat>
  <Paragraphs>162</Paragraphs>
  <Slides>7</Slides>
  <Notes>7</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7</vt:i4>
      </vt:variant>
    </vt:vector>
  </HeadingPairs>
  <TitlesOfParts>
    <vt:vector size="23" baseType="lpstr">
      <vt:lpstr>Arial</vt:lpstr>
      <vt:lpstr>SimSun</vt:lpstr>
      <vt:lpstr>Wingdings</vt:lpstr>
      <vt:lpstr>Calibri</vt:lpstr>
      <vt:lpstr>Calibri</vt:lpstr>
      <vt:lpstr>Calibri</vt:lpstr>
      <vt:lpstr>Cambria</vt:lpstr>
      <vt:lpstr>Cambria</vt:lpstr>
      <vt:lpstr>Cambria</vt:lpstr>
      <vt:lpstr>Arial</vt:lpstr>
      <vt:lpstr>Arial</vt:lpstr>
      <vt:lpstr>Microsoft YaHei</vt:lpstr>
      <vt:lpstr>Arial Unicode MS</vt:lpstr>
      <vt:lpstr>Aptos</vt:lpstr>
      <vt:lpstr>Segoe UI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WPS_1789000899</cp:lastModifiedBy>
  <cp:revision>3</cp:revision>
  <dcterms:created xsi:type="dcterms:W3CDTF">2026-09-01T01:27:00Z</dcterms:created>
  <dcterms:modified xsi:type="dcterms:W3CDTF">2026-09-19T03:03:33Z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28C86C5A09AD4C0FBB18CD930D2068F8_13</vt:lpwstr>
  </property>
  <property fmtid="{D5CDD505-2E9C-101B-9397-08002B2CF9AE}" pid="3" name="KSOProductBuildVer">
    <vt:lpwstr>1033-12.1.0.28485</vt:lpwstr>
  </property>
</Properties>
</file>