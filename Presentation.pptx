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58" r:id="rId5"/>
    <p:sldId id="265" r:id="rId6"/>
    <p:sldId id="259" r:id="rId7"/>
    <p:sldId id="267" r:id="rId8"/>
    <p:sldId id="270" r:id="rId9"/>
    <p:sldId id="269"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820" y="354330"/>
            <a:ext cx="9144000" cy="2990215"/>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Calibri" panose="020F0502020204030204" pitchFamily="34" charset="0"/>
                <a:ea typeface="Calibri" panose="020F0502020204030204" pitchFamily="34" charset="-122"/>
                <a:cs typeface="Calibri" panose="020F0502020204030204" pitchFamily="34" charset="-120"/>
                <a:sym typeface="+mn-ea"/>
              </a:rPr>
              <a:t>Database Systems Engineering and Distributed Backend Development</a:t>
            </a:r>
            <a:r>
              <a:rPr lang="en-US" sz="4000" dirty="0">
                <a:solidFill>
                  <a:srgbClr val="FDE68A"/>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4000" b="1" dirty="0">
                <a:solidFill>
                  <a:srgbClr val="C00000"/>
                </a:solidFill>
                <a:latin typeface="+mn-lt"/>
              </a:rPr>
              <a:t>(</a:t>
            </a:r>
            <a:r>
              <a:rPr lang="en-US" sz="4000" b="1" dirty="0">
                <a:solidFill>
                  <a:srgbClr val="C00000"/>
                </a:solidFill>
                <a:latin typeface="Calibri" panose="020F0502020204030204" pitchFamily="34" charset="0"/>
                <a:ea typeface="Calibri" panose="020F0502020204030204" pitchFamily="34" charset="-122"/>
                <a:cs typeface="Calibri" panose="020F0502020204030204" pitchFamily="34" charset="-120"/>
                <a:sym typeface="+mn-ea"/>
              </a:rPr>
              <a:t>25CS1302E</a:t>
            </a:r>
            <a:r>
              <a:rPr lang="en-US" sz="4000" b="1" dirty="0">
                <a:solidFill>
                  <a:srgbClr val="C00000"/>
                </a:solidFill>
                <a:latin typeface="+mn-lt"/>
              </a:rPr>
              <a:t>)</a:t>
            </a:r>
            <a:br>
              <a:rPr lang="en-US" sz="4000" b="1" dirty="0">
                <a:solidFill>
                  <a:srgbClr val="C00000"/>
                </a:solidFill>
                <a:latin typeface="+mn-lt"/>
              </a:rPr>
            </a:br>
            <a:br>
              <a:rPr lang="en-US" sz="4000" b="1" dirty="0">
                <a:solidFill>
                  <a:srgbClr val="C00000"/>
                </a:solidFill>
                <a:latin typeface="+mn-lt"/>
              </a:rPr>
            </a:br>
            <a:r>
              <a:rPr lang="en-IN" altLang="en-US" sz="4000" b="1" dirty="0">
                <a:solidFill>
                  <a:srgbClr val="C00000"/>
                </a:solidFill>
                <a:latin typeface="+mn-lt"/>
              </a:rPr>
              <a:t>ONLINE BANKING SYSTEM SIMULATION</a:t>
            </a:r>
            <a:endParaRPr lang="en-IN" alt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endParaRPr lang="en-US" dirty="0">
              <a:solidFill>
                <a:srgbClr val="0070C0"/>
              </a:solidFill>
            </a:endParaRPr>
          </a:p>
          <a:p>
            <a:r>
              <a:rPr lang="en-IN" altLang="en-US" dirty="0">
                <a:solidFill>
                  <a:srgbClr val="0070C0"/>
                </a:solidFill>
              </a:rPr>
              <a:t>JAKKA BHANU      </a:t>
            </a:r>
            <a:r>
              <a:rPr lang="en-US" dirty="0">
                <a:solidFill>
                  <a:srgbClr val="0070C0"/>
                </a:solidFill>
              </a:rPr>
              <a:t>: </a:t>
            </a:r>
            <a:r>
              <a:rPr lang="en-IN" altLang="en-US" dirty="0" err="1">
                <a:solidFill>
                  <a:srgbClr val="0070C0"/>
                </a:solidFill>
              </a:rPr>
              <a:t>2520030006</a:t>
            </a:r>
            <a:endParaRPr lang="en-US" dirty="0">
              <a:solidFill>
                <a:srgbClr val="0070C0"/>
              </a:solidFill>
            </a:endParaRPr>
          </a:p>
          <a:p>
            <a:r>
              <a:rPr lang="en-IN" altLang="en-US" dirty="0">
                <a:solidFill>
                  <a:srgbClr val="0070C0"/>
                </a:solidFill>
                <a:sym typeface="+mn-ea"/>
              </a:rPr>
              <a:t>ANAND AKSHITA </a:t>
            </a:r>
            <a:r>
              <a:rPr lang="en-US" dirty="0">
                <a:solidFill>
                  <a:srgbClr val="0070C0"/>
                </a:solidFill>
                <a:sym typeface="+mn-ea"/>
              </a:rPr>
              <a:t>: </a:t>
            </a:r>
            <a:r>
              <a:rPr lang="en-IN" altLang="en-US" dirty="0">
                <a:solidFill>
                  <a:srgbClr val="0070C0"/>
                </a:solidFill>
                <a:sym typeface="+mn-ea"/>
              </a:rPr>
              <a:t>2520030043</a:t>
            </a:r>
            <a:endParaRPr lang="en-US"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altLang="en-US" dirty="0">
                <a:solidFill>
                  <a:srgbClr val="0070C0"/>
                </a:solidFill>
              </a:rPr>
              <a:t>DR. D. RAMYA KRISHNA</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4" name="Text Box 3"/>
          <p:cNvSpPr txBox="1"/>
          <p:nvPr/>
        </p:nvSpPr>
        <p:spPr>
          <a:xfrm>
            <a:off x="267970" y="805815"/>
            <a:ext cx="11773535" cy="5546725"/>
          </a:xfrm>
          <a:prstGeom prst="rect">
            <a:avLst/>
          </a:prstGeom>
        </p:spPr>
        <p:txBody>
          <a:bodyPr wrap="square">
            <a:noAutofit/>
          </a:bodyPr>
          <a:p>
            <a:pPr marL="342900" indent="-342900" algn="just">
              <a:lnSpc>
                <a:spcPct val="150000"/>
              </a:lnSpc>
              <a:buFont typeface="Wingdings" panose="05000000000000000000" charset="0"/>
              <a:buChar char="v"/>
            </a:pPr>
            <a:r>
              <a:rPr sz="2000">
                <a:latin typeface="Times New Roman" panose="02020603050405020304" pitchFamily="18" charset="0"/>
                <a:cs typeface="Times New Roman" panose="02020603050405020304" pitchFamily="18" charset="0"/>
              </a:rPr>
              <a:t>The Online Banking System Simulation is a full-stack web application that replicates the core functionality of a modern digital banking platform. It is built using a three-tier architecture — React.js for the frontend, Spring Boot (Java) for the backend REST API, and MySQL for the relational database.</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v"/>
            </a:pPr>
            <a:r>
              <a:rPr sz="2000">
                <a:latin typeface="Times New Roman" panose="02020603050405020304" pitchFamily="18" charset="0"/>
                <a:cs typeface="Times New Roman" panose="02020603050405020304" pitchFamily="18" charset="0"/>
              </a:rPr>
              <a:t>The system supports customer registration and OTP-verified secure login, multiple account types (Savings and Checking), real-time fund transfers with atomic transaction guarantees, transaction history with downloadable statements, debit/credit card issuance and management (limits, freeze/unblock, replacement), loan applications with automatic EMI calculation, fixed and recurring deposits, a real-time notification system, and comprehensive profile and security management including login activity tracking and two-factor authentication control.</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v"/>
            </a:pPr>
            <a:r>
              <a:rPr sz="2000">
                <a:latin typeface="Times New Roman" panose="02020603050405020304" pitchFamily="18" charset="0"/>
                <a:cs typeface="Times New Roman" panose="02020603050405020304" pitchFamily="18" charset="0"/>
              </a:rPr>
              <a:t>The database schema is normalized up to Boyce-Codd Normal Form (BCNF) across 10 interconnected tables, with referential integrity enforced through foreign keys and business rules enforced through CHECK constraints. All financial operations (transfers, deposits) are implemented as atomic database transactions, ensuring balances remain consistent even under failure conditions.</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Box 3"/>
          <p:cNvSpPr txBox="1"/>
          <p:nvPr/>
        </p:nvSpPr>
        <p:spPr>
          <a:xfrm>
            <a:off x="302260" y="778510"/>
            <a:ext cx="11657330" cy="5687695"/>
          </a:xfrm>
          <a:prstGeom prst="rect">
            <a:avLst/>
          </a:prstGeom>
        </p:spPr>
        <p:txBody>
          <a:bodyPr wrap="square">
            <a:noAutofit/>
          </a:bodyPr>
          <a:p>
            <a:pPr algn="just">
              <a:lnSpc>
                <a:spcPct val="150000"/>
              </a:lnSpc>
            </a:pPr>
            <a:r>
              <a:rPr sz="2000">
                <a:latin typeface="Times New Roman" panose="02020603050405020304" pitchFamily="18" charset="0"/>
                <a:cs typeface="Times New Roman" panose="02020603050405020304" pitchFamily="18" charset="0"/>
              </a:rPr>
              <a:t>Digital banking has become the primary way individuals manage their finances, replacing traditional in-branch visits with instant, anytime access to accounts. Building such a system requires careful engineering across three layers: a relational database that correctly models financial relationships, a backend that enforces security and transactional correctness, and a frontend that presents this data reliably to the user.</a:t>
            </a:r>
            <a:endParaRPr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Database Engineering: ER modeling, BCNF normalization, constraint enforcement, and indexing for query performance.</a:t>
            </a:r>
            <a:endParaRPr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Backend Engineering: RESTful API design using Spring Boot, JWT-based stateless authentication, bcrypt password hashing, and OTP-based two-factor verification.</a:t>
            </a:r>
            <a:endParaRPr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Transactional Integrity: all money-moving operations use database transactions (@Transactional) so that a transfer either fully completes or fully rolls back — never leaving accounts in a partially updated state.</a:t>
            </a:r>
            <a:endParaRPr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Frontend Engineering: a responsive single-page application using React.js and React Router, with real-time UI updates reflecting backend data.</a:t>
            </a:r>
            <a:endParaRPr sz="2000">
              <a:latin typeface="Times New Roman" panose="02020603050405020304" pitchFamily="18" charset="0"/>
              <a:cs typeface="Times New Roman" panose="02020603050405020304" pitchFamily="18" charset="0"/>
            </a:endParaRPr>
          </a:p>
          <a:p>
            <a:pPr algn="just">
              <a:lnSpc>
                <a:spcPct val="150000"/>
              </a:lnSpc>
            </a:pP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endParaRPr lang="en-US" sz="3200" b="1" dirty="0">
              <a:solidFill>
                <a:schemeClr val="bg1"/>
              </a:solidFill>
            </a:endParaRPr>
          </a:p>
        </p:txBody>
      </p:sp>
      <p:sp>
        <p:nvSpPr>
          <p:cNvPr id="4" name="Text Box 3"/>
          <p:cNvSpPr txBox="1"/>
          <p:nvPr/>
        </p:nvSpPr>
        <p:spPr>
          <a:xfrm>
            <a:off x="510540" y="993775"/>
            <a:ext cx="11217910" cy="5439410"/>
          </a:xfrm>
          <a:prstGeom prst="rect">
            <a:avLst/>
          </a:prstGeom>
        </p:spPr>
        <p:txBody>
          <a:bodyPr wrap="square">
            <a:noAutofit/>
          </a:bodyPr>
          <a:p>
            <a:pPr>
              <a:lnSpc>
                <a:spcPct val="100000"/>
              </a:lnSpc>
            </a:pPr>
            <a:r>
              <a:rPr sz="2000" b="1">
                <a:latin typeface="Times New Roman" panose="02020603050405020304" pitchFamily="18" charset="0"/>
                <a:cs typeface="Times New Roman" panose="02020603050405020304" pitchFamily="18" charset="0"/>
              </a:rPr>
              <a:t>Problem Statement:</a:t>
            </a:r>
            <a:endParaRPr sz="2000" b="1">
              <a:latin typeface="Times New Roman" panose="02020603050405020304" pitchFamily="18" charset="0"/>
              <a:cs typeface="Times New Roman" panose="02020603050405020304" pitchFamily="18" charset="0"/>
            </a:endParaRPr>
          </a:p>
          <a:p>
            <a:pPr>
              <a:lnSpc>
                <a:spcPct val="100000"/>
              </a:lnSpc>
            </a:pPr>
            <a:r>
              <a:rPr sz="2000">
                <a:latin typeface="Times New Roman" panose="02020603050405020304" pitchFamily="18" charset="0"/>
                <a:cs typeface="Times New Roman" panose="02020603050405020304" pitchFamily="18" charset="0"/>
              </a:rPr>
              <a:t> Many simplified or academic banking system implementations fail to reflect how real banking software is engineered — they often store data without proper normalization, allow transactions that can leave account balances inconsistent under failure or concurrent access, and lack meaningful authentication or security mechanisms. This creates a gap between theoretical database/backend coursework and practical, production-relevant implementation.</a:t>
            </a:r>
            <a:endParaRPr sz="2000">
              <a:latin typeface="Times New Roman" panose="02020603050405020304" pitchFamily="18" charset="0"/>
              <a:cs typeface="Times New Roman" panose="02020603050405020304" pitchFamily="18" charset="0"/>
            </a:endParaRPr>
          </a:p>
          <a:p>
            <a:pPr>
              <a:lnSpc>
                <a:spcPct val="100000"/>
              </a:lnSpc>
            </a:pPr>
            <a:endParaRPr sz="2000">
              <a:latin typeface="Times New Roman" panose="02020603050405020304" pitchFamily="18" charset="0"/>
              <a:cs typeface="Times New Roman" panose="02020603050405020304" pitchFamily="18" charset="0"/>
            </a:endParaRPr>
          </a:p>
          <a:p>
            <a:pPr>
              <a:lnSpc>
                <a:spcPct val="100000"/>
              </a:lnSpc>
            </a:pPr>
            <a:r>
              <a:rPr sz="2000" b="1">
                <a:latin typeface="Times New Roman" panose="02020603050405020304" pitchFamily="18" charset="0"/>
                <a:cs typeface="Times New Roman" panose="02020603050405020304" pitchFamily="18" charset="0"/>
              </a:rPr>
              <a:t>Objectives:</a:t>
            </a:r>
            <a:endParaRPr sz="2000" b="1">
              <a:latin typeface="Times New Roman" panose="02020603050405020304" pitchFamily="18" charset="0"/>
              <a:cs typeface="Times New Roman" panose="02020603050405020304" pitchFamily="18" charset="0"/>
            </a:endParaRPr>
          </a:p>
          <a:p>
            <a:pPr>
              <a:lnSpc>
                <a:spcPct val="100000"/>
              </a:lnSpc>
              <a:buAutoNum type="arabicPeriod"/>
            </a:pPr>
            <a:r>
              <a:rPr sz="2000">
                <a:latin typeface="Times New Roman" panose="02020603050405020304" pitchFamily="18" charset="0"/>
                <a:cs typeface="Times New Roman" panose="02020603050405020304" pitchFamily="18" charset="0"/>
              </a:rPr>
              <a:t>Design a relational database schema normalized to BCNF, correctly modeling customers, accounts, cards, transactions, beneficiaries, loans, deposits, notifications, and login activity.</a:t>
            </a:r>
            <a:endParaRPr sz="2000">
              <a:latin typeface="Times New Roman" panose="02020603050405020304" pitchFamily="18" charset="0"/>
              <a:cs typeface="Times New Roman" panose="02020603050405020304" pitchFamily="18" charset="0"/>
            </a:endParaRPr>
          </a:p>
          <a:p>
            <a:pPr>
              <a:lnSpc>
                <a:spcPct val="100000"/>
              </a:lnSpc>
              <a:buAutoNum type="arabicPeriod"/>
            </a:pPr>
            <a:r>
              <a:rPr sz="2000">
                <a:latin typeface="Times New Roman" panose="02020603050405020304" pitchFamily="18" charset="0"/>
                <a:cs typeface="Times New Roman" panose="02020603050405020304" pitchFamily="18" charset="0"/>
              </a:rPr>
              <a:t>Implement a secure backend REST API enforcing JWT-based authentication, bcrypt password hashing, and OTP-based two-factor verification.</a:t>
            </a:r>
            <a:endParaRPr sz="2000">
              <a:latin typeface="Times New Roman" panose="02020603050405020304" pitchFamily="18" charset="0"/>
              <a:cs typeface="Times New Roman" panose="02020603050405020304" pitchFamily="18" charset="0"/>
            </a:endParaRPr>
          </a:p>
          <a:p>
            <a:pPr>
              <a:lnSpc>
                <a:spcPct val="100000"/>
              </a:lnSpc>
              <a:buAutoNum type="arabicPeriod"/>
            </a:pPr>
            <a:r>
              <a:rPr sz="2000">
                <a:latin typeface="Times New Roman" panose="02020603050405020304" pitchFamily="18" charset="0"/>
                <a:cs typeface="Times New Roman" panose="02020603050405020304" pitchFamily="18" charset="0"/>
              </a:rPr>
              <a:t>Guarantee transactional integrity for all fund-moving operations (transfers, deposit debits) using atomic database transactions.</a:t>
            </a:r>
            <a:endParaRPr sz="2000">
              <a:latin typeface="Times New Roman" panose="02020603050405020304" pitchFamily="18" charset="0"/>
              <a:cs typeface="Times New Roman" panose="02020603050405020304" pitchFamily="18" charset="0"/>
            </a:endParaRPr>
          </a:p>
          <a:p>
            <a:pPr>
              <a:lnSpc>
                <a:spcPct val="100000"/>
              </a:lnSpc>
              <a:buAutoNum type="arabicPeriod"/>
            </a:pPr>
            <a:r>
              <a:rPr sz="2000">
                <a:latin typeface="Times New Roman" panose="02020603050405020304" pitchFamily="18" charset="0"/>
                <a:cs typeface="Times New Roman" panose="02020603050405020304" pitchFamily="18" charset="0"/>
              </a:rPr>
              <a:t>Build a complete, functional frontend covering the full customer journey: registration, login, account management, transfers, loans, deposits, card management, and profile/security settings.</a:t>
            </a:r>
            <a:endParaRPr sz="2000">
              <a:latin typeface="Times New Roman" panose="02020603050405020304" pitchFamily="18" charset="0"/>
              <a:cs typeface="Times New Roman" panose="02020603050405020304" pitchFamily="18" charset="0"/>
            </a:endParaRPr>
          </a:p>
          <a:p>
            <a:pPr>
              <a:lnSpc>
                <a:spcPct val="100000"/>
              </a:lnSpc>
              <a:buAutoNum type="arabicPeriod"/>
            </a:pPr>
            <a:r>
              <a:rPr sz="2000">
                <a:latin typeface="Times New Roman" panose="02020603050405020304" pitchFamily="18" charset="0"/>
                <a:cs typeface="Times New Roman" panose="02020603050405020304" pitchFamily="18" charset="0"/>
              </a:rPr>
              <a:t>Demonstrate real-world banking security and usability patterns (OTP verification, login activity tracking, card freeze/replace) within an academic project scope.</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IN" altLang="en-US" sz="3200" b="1" dirty="0">
                <a:solidFill>
                  <a:schemeClr val="bg1"/>
                </a:solidFill>
              </a:rPr>
              <a:t>SYSTEM ARCHITECTURE</a:t>
            </a:r>
            <a:endParaRPr lang="en-IN" altLang="en-US" sz="3200" b="1" dirty="0">
              <a:solidFill>
                <a:schemeClr val="bg1"/>
              </a:solidFill>
            </a:endParaRPr>
          </a:p>
        </p:txBody>
      </p:sp>
      <p:pic>
        <p:nvPicPr>
          <p:cNvPr id="4" name="Picture 3" descr="system_architecture"/>
          <p:cNvPicPr>
            <a:picLocks noChangeAspect="1"/>
          </p:cNvPicPr>
          <p:nvPr/>
        </p:nvPicPr>
        <p:blipFill>
          <a:blip r:embed="rId1"/>
          <a:stretch>
            <a:fillRect/>
          </a:stretch>
        </p:blipFill>
        <p:spPr>
          <a:xfrm>
            <a:off x="499745" y="1282700"/>
            <a:ext cx="10981055" cy="49168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IN" altLang="en-US" sz="3200" b="1" dirty="0">
                <a:solidFill>
                  <a:schemeClr val="bg1"/>
                </a:solidFill>
              </a:rPr>
              <a:t>ER DIAGRAM</a:t>
            </a:r>
            <a:endParaRPr lang="en-IN" altLang="en-US" sz="3200" b="1" dirty="0">
              <a:solidFill>
                <a:schemeClr val="bg1"/>
              </a:solidFill>
            </a:endParaRPr>
          </a:p>
        </p:txBody>
      </p:sp>
      <p:pic>
        <p:nvPicPr>
          <p:cNvPr id="5" name="Picture 4"/>
          <p:cNvPicPr>
            <a:picLocks noChangeAspect="1"/>
          </p:cNvPicPr>
          <p:nvPr/>
        </p:nvPicPr>
        <p:blipFill>
          <a:blip r:embed="rId1"/>
          <a:stretch>
            <a:fillRect/>
          </a:stretch>
        </p:blipFill>
        <p:spPr>
          <a:xfrm>
            <a:off x="372110" y="890270"/>
            <a:ext cx="11176635" cy="5654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IN" altLang="en-US" sz="3200" b="1" dirty="0">
                <a:solidFill>
                  <a:schemeClr val="bg1"/>
                </a:solidFill>
              </a:rPr>
              <a:t>OUTPUTS</a:t>
            </a:r>
            <a:endParaRPr lang="en-IN" altLang="en-US" sz="3200" b="1" dirty="0">
              <a:solidFill>
                <a:schemeClr val="bg1"/>
              </a:solidFill>
            </a:endParaRPr>
          </a:p>
        </p:txBody>
      </p:sp>
      <p:pic>
        <p:nvPicPr>
          <p:cNvPr id="4" name="Picture 3"/>
          <p:cNvPicPr>
            <a:picLocks noChangeAspect="1"/>
          </p:cNvPicPr>
          <p:nvPr/>
        </p:nvPicPr>
        <p:blipFill>
          <a:blip r:embed="rId1"/>
          <a:stretch>
            <a:fillRect/>
          </a:stretch>
        </p:blipFill>
        <p:spPr>
          <a:xfrm>
            <a:off x="793750" y="1089660"/>
            <a:ext cx="10758805" cy="5314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 Box 3"/>
          <p:cNvSpPr txBox="1"/>
          <p:nvPr/>
        </p:nvSpPr>
        <p:spPr>
          <a:xfrm>
            <a:off x="615315" y="866775"/>
            <a:ext cx="11054080" cy="5591810"/>
          </a:xfrm>
          <a:prstGeom prst="rect">
            <a:avLst/>
          </a:prstGeom>
        </p:spPr>
        <p:txBody>
          <a:bodyPr wrap="square">
            <a:noAutofit/>
          </a:bodyPr>
          <a:p>
            <a:pPr algn="just">
              <a:buFont typeface="Arial" panose="020B0604020202020204"/>
              <a:buChar char="•"/>
            </a:pPr>
            <a:r>
              <a:rPr sz="2000">
                <a:latin typeface="Times New Roman" panose="02020603050405020304" pitchFamily="18" charset="0"/>
                <a:cs typeface="Times New Roman" panose="02020603050405020304" pitchFamily="18" charset="0"/>
              </a:rPr>
              <a:t>All REST API endpoints (authentication, accounts, transfers, cards, loans, deposits, notifications, profile) were independently tested and verified using Postman before frontend integration.</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Fund transfers were verified to maintain atomicity: account balances update correctly and consistently, with two corresponding transaction records (debit and credit) created in a single atomic operation.</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Password security was verified: passwords are never stored or transmitted in plain text; bcrypt hashing was confirmed via direct database inspection.</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OTP-based two-factor login was tested end-to-end: login requires both a correct password and a valid, time-limited OTP before a session token is issued.</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Card management features (issue, block/unblock, limit changes, online/contactless toggles, replacement) were tested and confirmed to correctly update database state.</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Loan EMI calculations were verified against the standard amortization formula.</a:t>
            </a: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endParaRPr sz="2000">
              <a:latin typeface="Times New Roman" panose="02020603050405020304" pitchFamily="18" charset="0"/>
              <a:cs typeface="Times New Roman" panose="02020603050405020304" pitchFamily="18" charset="0"/>
            </a:endParaRPr>
          </a:p>
          <a:p>
            <a:pPr algn="just">
              <a:buFont typeface="Arial" panose="020B0604020202020204"/>
              <a:buChar char="•"/>
            </a:pPr>
            <a:r>
              <a:rPr sz="2000">
                <a:latin typeface="Times New Roman" panose="02020603050405020304" pitchFamily="18" charset="0"/>
                <a:cs typeface="Times New Roman" panose="02020603050405020304" pitchFamily="18" charset="0"/>
              </a:rPr>
              <a:t>The complete system was tested end-to-end across all modules in a real browser environment (not just API-level testing), confirming correct integration across all three tiers (React → Spring Boot → MySQL).</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 Box 3"/>
          <p:cNvSpPr txBox="1"/>
          <p:nvPr/>
        </p:nvSpPr>
        <p:spPr>
          <a:xfrm>
            <a:off x="545465" y="959485"/>
            <a:ext cx="11286490" cy="5451475"/>
          </a:xfrm>
          <a:prstGeom prst="rect">
            <a:avLst/>
          </a:prstGeom>
        </p:spPr>
        <p:txBody>
          <a:bodyPr wrap="square">
            <a:noAutofit/>
          </a:bodyPr>
          <a:p>
            <a:pPr>
              <a:lnSpc>
                <a:spcPct val="150000"/>
              </a:lnSpc>
            </a:pPr>
            <a:r>
              <a:rPr sz="2000" b="1">
                <a:latin typeface="Times New Roman" panose="02020603050405020304" pitchFamily="18" charset="0"/>
                <a:cs typeface="Times New Roman" panose="02020603050405020304" pitchFamily="18" charset="0"/>
              </a:rPr>
              <a:t>Hardware:</a:t>
            </a:r>
            <a:endParaRPr sz="2000" b="1">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Development machine: Intel i5 (8th gen) or equivalent, 8GB+ RAM, 10GB free storage</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Client (end user): any device with a modern web browser, 2GB+ RAM</a:t>
            </a:r>
            <a:endParaRPr sz="2000">
              <a:latin typeface="Times New Roman" panose="02020603050405020304" pitchFamily="18" charset="0"/>
              <a:cs typeface="Times New Roman" panose="02020603050405020304" pitchFamily="18" charset="0"/>
            </a:endParaRPr>
          </a:p>
          <a:p>
            <a:pPr>
              <a:lnSpc>
                <a:spcPct val="150000"/>
              </a:lnSpc>
            </a:pPr>
            <a:r>
              <a:rPr sz="2000" b="1">
                <a:latin typeface="Times New Roman" panose="02020603050405020304" pitchFamily="18" charset="0"/>
                <a:cs typeface="Times New Roman" panose="02020603050405020304" pitchFamily="18" charset="0"/>
              </a:rPr>
              <a:t>Software:</a:t>
            </a:r>
            <a:endParaRPr sz="2000" b="1">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Operating System: Windows/macOS/Linux</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Frontend: React.js (via Vite), React Router DOM, Lucide React icons</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Backend: Java 17/21, Spring Boot 3.x, Spring Data JPA, Hibernate</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Database: MySQL Server 8.0, managed via MySQL Workbench</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Security libraries: jjwt (JWT), jBCrypt (password hashing)</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Development tools: Spring Tool Suite 4 (STS4) / Eclipse, VS Code</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API testing: Postman</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rPr>
              <a:t>Version control: Git, GitHub</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638810" y="1106805"/>
            <a:ext cx="11099800" cy="5266055"/>
          </a:xfrm>
          <a:prstGeom prst="rect">
            <a:avLst/>
          </a:prstGeom>
        </p:spPr>
        <p:txBody>
          <a:bodyPr wrap="square">
            <a:noAutofit/>
          </a:bodyPr>
          <a:p>
            <a:pPr marL="285750" indent="-285750">
              <a:lnSpc>
                <a:spcPct val="150000"/>
              </a:lnSpc>
              <a:buFont typeface="Wingdings" panose="05000000000000000000" charset="0"/>
              <a:buChar char="ü"/>
            </a:pPr>
            <a:r>
              <a:rPr sz="2000">
                <a:latin typeface="Times New Roman" panose="02020603050405020304" pitchFamily="18" charset="0"/>
                <a:cs typeface="Times New Roman" panose="02020603050405020304" pitchFamily="18" charset="0"/>
              </a:rPr>
              <a:t>This project successfully demonstrates the design and implementation of a full-stack banking simulation that goes beyond basic CRUD operations to reflect genuine banking software engineering concerns: normalized relational design, atomic transaction handling, secure authentication, and a complete, usable customer-facing application.</a:t>
            </a:r>
            <a:endParaRPr sz="2000">
              <a:latin typeface="Times New Roman" panose="02020603050405020304" pitchFamily="18" charset="0"/>
              <a:cs typeface="Times New Roman" panose="02020603050405020304" pitchFamily="18" charset="0"/>
            </a:endParaRPr>
          </a:p>
          <a:p>
            <a:pPr indent="0">
              <a:lnSpc>
                <a:spcPct val="150000"/>
              </a:lnSpc>
              <a:buFont typeface="Wingdings" panose="05000000000000000000" charset="0"/>
              <a:buNone/>
            </a:pPr>
            <a:endParaRPr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ü"/>
            </a:pPr>
            <a:r>
              <a:rPr sz="2000">
                <a:latin typeface="Times New Roman" panose="02020603050405020304" pitchFamily="18" charset="0"/>
                <a:cs typeface="Times New Roman" panose="02020603050405020304" pitchFamily="18" charset="0"/>
              </a:rPr>
              <a:t>All stated objectives were met: a BCNF-normalized schema was designed and implemented; secure, two-factor authentication was built and verified; transactional integrity was enforced and tested; and a complete frontend was delivered covering account management, transfers, loans, deposits, cards, notifications, and profile/security features. The project demonstrates practical, working knowledge of relational database engineering and modern full-stack web development.</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639445" y="1619250"/>
            <a:ext cx="11238865" cy="4698365"/>
          </a:xfrm>
          <a:prstGeom prst="rect">
            <a:avLst/>
          </a:prstGeom>
        </p:spPr>
        <p:txBody>
          <a:bodyPr wrap="square">
            <a:noAutofit/>
          </a:bodyPr>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Integration with a real SMS/email gateway (e.g., Twilio, SendGrid) for genuine OTP delivery, replacing the current on-screen simulated delivery used for demonstration purposes.</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PDF-formatted, bank-style downloadable statements, replacing the current CSV export.</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Database replication (primary-replica) for read scaling, and horizontal sharding by customer ID, as originally scoped in the project abstract.</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Voice-assisted navigation for accessibility (balance checks, transfers via voice commands).</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Expanded KYC verification workflow with document upload and manual/automated verification status.</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
            </a:pPr>
            <a:r>
              <a:rPr sz="2000">
                <a:latin typeface="Times New Roman" panose="02020603050405020304" pitchFamily="18" charset="0"/>
                <a:cs typeface="Times New Roman" panose="02020603050405020304" pitchFamily="18" charset="0"/>
              </a:rPr>
              <a:t>Production deployment with CI/CD pipeline, containerization (Docker), and cloud hosting.</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7125</Words>
  <Application>WPS Presentation</Application>
  <PresentationFormat>Widescreen</PresentationFormat>
  <Paragraphs>91</Paragraphs>
  <Slides>12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Calibri</vt:lpstr>
      <vt:lpstr>Calibri</vt:lpstr>
      <vt:lpstr>Wingdings</vt:lpstr>
      <vt:lpstr>Arial</vt:lpstr>
      <vt:lpstr>Office Theme</vt:lpstr>
      <vt:lpstr>       Data Structures and Algorithms -3 (25CS2103E)  Title of the project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WPS_1789000899</cp:lastModifiedBy>
  <cp:revision>21</cp:revision>
  <dcterms:created xsi:type="dcterms:W3CDTF">2024-08-29T05:25:00Z</dcterms:created>
  <dcterms:modified xsi:type="dcterms:W3CDTF">2026-10-03T03:22:53Z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549C16C1A631407F981CA88064BA78B0_13</vt:lpwstr>
  </property>
  <property fmtid="{D5CDD505-2E9C-101B-9397-08002B2CF9AE}" pid="3" name="KSOProductBuildVer">
    <vt:lpwstr>1033-12.1.0.28485</vt:lpwstr>
  </property>
</Properties>
</file>